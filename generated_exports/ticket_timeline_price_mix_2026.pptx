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slides/charts/chart1.xml" ContentType="application/vnd.openxmlformats-officedocument.drawingml.chart+xml"/>
  <Override PartName="/ppt/slides/charts/chart2.xml" ContentType="application/vnd.openxmlformats-officedocument.drawingml.chart+xml"/>
  <Override PartName="/ppt/slides/charts/chart3.xml" ContentType="application/vnd.openxmlformats-officedocument.drawingml.chart+xml"/>
  <Override PartName="/ppt/slides/charts/chart4.xml" ContentType="application/vnd.openxmlformats-officedocument.drawingml.chart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slides/charts/chart5.xml" ContentType="application/vnd.openxmlformats-officedocument.drawingml.chart+xml"/>
  <Override PartName="/ppt/slides/charts/chart6.xml" ContentType="application/vnd.openxmlformats-officedocument.drawingml.chart+xml"/>
  <Override PartName="/ppt/slides/charts/chart7.xml" ContentType="application/vnd.openxmlformats-officedocument.drawingml.chart+xml"/>
  <Override PartName="/ppt/slides/charts/chart8.xml" ContentType="application/vnd.openxmlformats-officedocument.drawingml.chart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slides/charts/chart9.xml" ContentType="application/vnd.openxmlformats-officedocument.drawingml.chart+xml"/>
  <Override PartName="/ppt/slides/charts/chart10.xml" ContentType="application/vnd.openxmlformats-officedocument.drawingml.chart+xml"/>
  <Override PartName="/ppt/slides/charts/chart11.xml" ContentType="application/vnd.openxmlformats-officedocument.drawingml.chart+xml"/>
  <Override PartName="/ppt/slides/charts/chart12.xml" ContentType="application/vnd.openxmlformats-officedocument.drawingml.chart+xml"/>
  <Override PartName="/ppt/notesSlides/notesSlide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1d74b9b60104a48" /><Relationship Type="http://schemas.openxmlformats.org/officeDocument/2006/relationships/extended-properties" Target="/docProps/app.xml" Id="Rcb5fff98852443c4" /><Relationship Type="http://schemas.openxmlformats.org/officeDocument/2006/relationships/officeDocument" Target="/ppt/presentation.xml" Id="R2bd0e6c934e2431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6bfc07bd5634563"/>
  </p:sldMasterIdLst>
  <p:notesMasterIdLst>
    <p:notesMasterId xmlns:r="http://schemas.openxmlformats.org/officeDocument/2006/relationships" r:id="R2d2d6ab7b7194aed"/>
  </p:notesMasterIdLst>
  <p:sldIdLst>
    <p:sldId xmlns:r="http://schemas.openxmlformats.org/officeDocument/2006/relationships" id="256" r:id="R6ef5ac97c8f843b6"/>
    <p:sldId xmlns:r="http://schemas.openxmlformats.org/officeDocument/2006/relationships" id="257" r:id="R3860d1a386d440e1"/>
    <p:sldId xmlns:r="http://schemas.openxmlformats.org/officeDocument/2006/relationships" id="258" r:id="R4c0e53345894438a"/>
    <p:sldId xmlns:r="http://schemas.openxmlformats.org/officeDocument/2006/relationships" id="259" r:id="R4bf03da32b5b4cc1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7934a5b87c248d4" /><Relationship Type="http://schemas.openxmlformats.org/officeDocument/2006/relationships/slideMaster" Target="/ppt/slideMasters/slideMaster1.xml" Id="R16bfc07bd5634563" /><Relationship Type="http://schemas.openxmlformats.org/officeDocument/2006/relationships/notesMaster" Target="/ppt/notesMasters/notesMaster1.xml" Id="R2d2d6ab7b7194aed" /><Relationship Type="http://schemas.openxmlformats.org/officeDocument/2006/relationships/presProps" Target="/ppt/presProps.xml" Id="R3ec7d54aa09749ef" /><Relationship Type="http://schemas.openxmlformats.org/officeDocument/2006/relationships/tableStyles" Target="/ppt/tableStyles.xml" Id="R31cc1e15bf074ce0" /><Relationship Type="http://schemas.openxmlformats.org/officeDocument/2006/relationships/slide" Target="/ppt/slides/slide1.xml" Id="R6ef5ac97c8f843b6" /><Relationship Type="http://schemas.openxmlformats.org/officeDocument/2006/relationships/slide" Target="/ppt/slides/slide2.xml" Id="R3860d1a386d440e1" /><Relationship Type="http://schemas.openxmlformats.org/officeDocument/2006/relationships/slide" Target="/ppt/slides/slide3.xml" Id="R4c0e53345894438a" /><Relationship Type="http://schemas.openxmlformats.org/officeDocument/2006/relationships/slide" Target="/ppt/slides/slide4.xml" Id="R4bf03da32b5b4cc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006b966f4fc443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48d6806c1f14c56" /><Relationship Type="http://schemas.openxmlformats.org/officeDocument/2006/relationships/notesMaster" Target="/ppt/notesMasters/notesMaster1.xml" Id="Rf642645de99e4e1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4be8b27ba1541df" /><Relationship Type="http://schemas.openxmlformats.org/officeDocument/2006/relationships/notesMaster" Target="/ppt/notesMasters/notesMaster1.xml" Id="Re8ad182d8d104bb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969e568a9af47a2" /><Relationship Type="http://schemas.openxmlformats.org/officeDocument/2006/relationships/notesMaster" Target="/ppt/notesMasters/notesMaster1.xml" Id="R640c12e6199742a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88ff81f0a304592" /><Relationship Type="http://schemas.openxmlformats.org/officeDocument/2006/relationships/notesMaster" Target="/ppt/notesMasters/notesMaster1.xml" Id="Rc4ae2f1bed6449e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8aca419c0fb463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98780dfe2ae43f1" /><Relationship Type="http://schemas.openxmlformats.org/officeDocument/2006/relationships/slideLayout" Target="/ppt/slideLayouts/slideLayout1.xml" Id="R65b0691e654b4a6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5b0691e654b4a6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8fd1238a0a042d9" /><Relationship Type="http://schemas.openxmlformats.org/officeDocument/2006/relationships/notesSlide" Target="/ppt/notesSlides/notesSlide1.xml" Id="Rb2304cf2acb5419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39866f02bed44dd" /><Relationship Type="http://schemas.openxmlformats.org/officeDocument/2006/relationships/chart" Target="/ppt/slides/charts/chart1.xml" Id="R69f3d3e4a82f4e80" /><Relationship Type="http://schemas.openxmlformats.org/officeDocument/2006/relationships/chart" Target="/ppt/slides/charts/chart2.xml" Id="R63e5aeefc3be4fbb" /><Relationship Type="http://schemas.openxmlformats.org/officeDocument/2006/relationships/chart" Target="/ppt/slides/charts/chart3.xml" Id="R569b90cbd8294e27" /><Relationship Type="http://schemas.openxmlformats.org/officeDocument/2006/relationships/chart" Target="/ppt/slides/charts/chart4.xml" Id="R25e2dcfdc379449a" /><Relationship Type="http://schemas.openxmlformats.org/officeDocument/2006/relationships/notesSlide" Target="/ppt/notesSlides/notesSlide2.xml" Id="R4ffd6079b9754a3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2f5c321ea514205" /><Relationship Type="http://schemas.openxmlformats.org/officeDocument/2006/relationships/chart" Target="/ppt/slides/charts/chart5.xml" Id="R9b7785e62fb541d0" /><Relationship Type="http://schemas.openxmlformats.org/officeDocument/2006/relationships/chart" Target="/ppt/slides/charts/chart6.xml" Id="R760f9e019f304246" /><Relationship Type="http://schemas.openxmlformats.org/officeDocument/2006/relationships/chart" Target="/ppt/slides/charts/chart7.xml" Id="R664306526acc4ead" /><Relationship Type="http://schemas.openxmlformats.org/officeDocument/2006/relationships/chart" Target="/ppt/slides/charts/chart8.xml" Id="Ra33c3b8b4aa04489" /><Relationship Type="http://schemas.openxmlformats.org/officeDocument/2006/relationships/notesSlide" Target="/ppt/notesSlides/notesSlide3.xml" Id="Rb422af6faa754e4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ab8c08534c644d6" /><Relationship Type="http://schemas.openxmlformats.org/officeDocument/2006/relationships/chart" Target="/ppt/slides/charts/chart9.xml" Id="Rd429f065ee0c4342" /><Relationship Type="http://schemas.openxmlformats.org/officeDocument/2006/relationships/chart" Target="/ppt/slides/charts/chart10.xml" Id="R8637c74c38fc4683" /><Relationship Type="http://schemas.openxmlformats.org/officeDocument/2006/relationships/chart" Target="/ppt/slides/charts/chart11.xml" Id="R5d47ed2a16744d8f" /><Relationship Type="http://schemas.openxmlformats.org/officeDocument/2006/relationships/chart" Target="/ppt/slides/charts/chart12.xml" Id="Rc2f3aee4dbf44af5" /><Relationship Type="http://schemas.openxmlformats.org/officeDocument/2006/relationships/notesSlide" Target="/ppt/notesSlides/notesSlide4.xml" Id="R769b62f69c2d4462" /></Relationships>
</file>

<file path=ppt/slides/charts/chart1.xml><?xml version="1.0" encoding="utf-8"?>
<c:chartSpace xmlns:c="http://schemas.openxmlformats.org/drawingml/2006/chart">
  <c:lang val="en-US"/>
  <c:chart>
    <c:plotArea>
      <c:doughnutChart>
        <c:ser>
          <c:idx val="0"/>
          <c:order val="0"/>
          <c:tx>
            <c:v>Tickets</c:v>
          </c:tx>
          <c:dPt>
            <c:idx val="0"/>
            <c:spPr>
              <a:solidFill xmlns:a="http://schemas.openxmlformats.org/drawingml/2006/main">
                <a:srgbClr val="0F8F8C"/>
              </a:solidFill>
              <a:ln xmlns:a="http://schemas.openxmlformats.org/drawingml/2006/main" w="9525">
                <a:solidFill>
                  <a:srgbClr val="FFFFFF"/>
                </a:solidFill>
                <a:prstDash val="solid"/>
              </a:ln>
            </c:spPr>
          </c:dPt>
          <c:dPt>
            <c:idx val="1"/>
            <c:spPr>
              <a:solidFill xmlns:a="http://schemas.openxmlformats.org/drawingml/2006/main">
                <a:srgbClr val="4F8F42"/>
              </a:solidFill>
              <a:ln xmlns:a="http://schemas.openxmlformats.org/drawingml/2006/main" w="9525">
                <a:solidFill>
                  <a:srgbClr val="FFFFFF"/>
                </a:solidFill>
                <a:prstDash val="solid"/>
              </a:ln>
            </c:spPr>
          </c:dPt>
          <c:dPt>
            <c:idx val="2"/>
            <c:spPr>
              <a:solidFill xmlns:a="http://schemas.openxmlformats.org/drawingml/2006/main">
                <a:srgbClr val="2474A6"/>
              </a:solidFill>
              <a:ln xmlns:a="http://schemas.openxmlformats.org/drawingml/2006/main" w="9525">
                <a:solidFill>
                  <a:srgbClr val="FFFFFF"/>
                </a:solidFill>
                <a:prstDash val="solid"/>
              </a:ln>
            </c:spPr>
          </c:dPt>
          <c:dPt>
            <c:idx val="3"/>
            <c:spPr>
              <a:solidFill xmlns:a="http://schemas.openxmlformats.org/drawingml/2006/main">
                <a:srgbClr val="D88A18"/>
              </a:solidFill>
              <a:ln xmlns:a="http://schemas.openxmlformats.org/drawingml/2006/main" w="9525">
                <a:solidFill>
                  <a:srgbClr val="FFFFFF"/>
                </a:solidFill>
                <a:prstDash val="solid"/>
              </a:ln>
            </c:spPr>
          </c:dPt>
          <c:dPt>
            <c:idx val="4"/>
            <c:spPr>
              <a:solidFill xmlns:a="http://schemas.openxmlformats.org/drawingml/2006/main">
                <a:srgbClr val="EF9F42"/>
              </a:solidFill>
              <a:ln xmlns:a="http://schemas.openxmlformats.org/drawingml/2006/main" w="9525">
                <a:solidFill>
                  <a:srgbClr val="FFFFFF"/>
                </a:solidFill>
                <a:prstDash val="solid"/>
              </a:ln>
            </c:spPr>
          </c:dPt>
          <c:dPt>
            <c:idx val="5"/>
            <c:spPr>
              <a:solidFill xmlns:a="http://schemas.openxmlformats.org/drawingml/2006/main">
                <a:srgbClr val="C9513F"/>
              </a:solidFill>
              <a:ln xmlns:a="http://schemas.openxmlformats.org/drawingml/2006/main" w="9525">
                <a:solidFill>
                  <a:srgbClr val="FFFFFF"/>
                </a:solidFill>
                <a:prstDash val="solid"/>
              </a:ln>
            </c:spPr>
          </c:dPt>
          <c:cat>
            <c:strLit>
              <c:ptCount val="6"/>
              <c:pt idx="0">
                <c:v>0-7 days</c:v>
              </c:pt>
              <c:pt idx="1">
                <c:v>8-14 days</c:v>
              </c:pt>
              <c:pt idx="2">
                <c:v>15-21 days</c:v>
              </c:pt>
              <c:pt idx="3">
                <c:v>22-30 days</c:v>
              </c:pt>
              <c:pt idx="4">
                <c:v>31-60 days</c:v>
              </c:pt>
              <c:pt idx="5">
                <c:v>60+ days</c:v>
              </c:pt>
            </c:strLit>
          </c:cat>
          <c:val>
            <c:numLit>
              <c:formatCode>General</c:formatCode>
              <c:ptCount val="6"/>
              <c:pt idx="0">
                <c:v>1229</c:v>
              </c:pt>
              <c:pt idx="1">
                <c:v>364</c:v>
              </c:pt>
              <c:pt idx="2">
                <c:v>238</c:v>
              </c:pt>
              <c:pt idx="3">
                <c:v>219</c:v>
              </c:pt>
              <c:pt idx="4">
                <c:v>429</c:v>
              </c:pt>
              <c:pt idx="5">
                <c:v>330</c:v>
              </c:pt>
            </c:numLit>
          </c:val>
        </c:ser>
        <c:firstSliceAng val="270"/>
        <c:holeSize val="58"/>
      </c:doughnutChart>
      <c:spPr>
        <a:noFill xmlns:a="http://schemas.openxmlformats.org/drawingml/2006/main"/>
      </c:spPr>
    </c:plotArea>
    <c:plotVisOnly val="1"/>
  </c:chart>
  <c:spPr>
    <a:noFill xmlns:a="http://schemas.openxmlformats.org/drawingml/2006/main"/>
  </c:spPr>
</c:chartSpace>
</file>

<file path=ppt/slides/charts/chart2.xml><?xml version="1.0" encoding="utf-8"?>
<c:chartSpace xmlns:c="http://schemas.openxmlformats.org/drawingml/2006/chart">
  <c:lang val="en-US"/>
  <c:chart>
    <c:plotArea>
      <c:doughnutChart>
        <c:ser>
          <c:idx val="0"/>
          <c:order val="0"/>
          <c:tx>
            <c:v>Tickets</c:v>
          </c:tx>
          <c:dPt>
            <c:idx val="0"/>
            <c:spPr>
              <a:solidFill xmlns:a="http://schemas.openxmlformats.org/drawingml/2006/main">
                <a:srgbClr val="0F8F8C"/>
              </a:solidFill>
              <a:ln xmlns:a="http://schemas.openxmlformats.org/drawingml/2006/main" w="9525">
                <a:solidFill>
                  <a:srgbClr val="FFFFFF"/>
                </a:solidFill>
                <a:prstDash val="solid"/>
              </a:ln>
            </c:spPr>
          </c:dPt>
          <c:dPt>
            <c:idx val="1"/>
            <c:spPr>
              <a:solidFill xmlns:a="http://schemas.openxmlformats.org/drawingml/2006/main">
                <a:srgbClr val="4F8F42"/>
              </a:solidFill>
              <a:ln xmlns:a="http://schemas.openxmlformats.org/drawingml/2006/main" w="9525">
                <a:solidFill>
                  <a:srgbClr val="FFFFFF"/>
                </a:solidFill>
                <a:prstDash val="solid"/>
              </a:ln>
            </c:spPr>
          </c:dPt>
          <c:dPt>
            <c:idx val="2"/>
            <c:spPr>
              <a:solidFill xmlns:a="http://schemas.openxmlformats.org/drawingml/2006/main">
                <a:srgbClr val="2474A6"/>
              </a:solidFill>
              <a:ln xmlns:a="http://schemas.openxmlformats.org/drawingml/2006/main" w="9525">
                <a:solidFill>
                  <a:srgbClr val="FFFFFF"/>
                </a:solidFill>
                <a:prstDash val="solid"/>
              </a:ln>
            </c:spPr>
          </c:dPt>
          <c:dPt>
            <c:idx val="3"/>
            <c:spPr>
              <a:solidFill xmlns:a="http://schemas.openxmlformats.org/drawingml/2006/main">
                <a:srgbClr val="D88A18"/>
              </a:solidFill>
              <a:ln xmlns:a="http://schemas.openxmlformats.org/drawingml/2006/main" w="9525">
                <a:solidFill>
                  <a:srgbClr val="FFFFFF"/>
                </a:solidFill>
                <a:prstDash val="solid"/>
              </a:ln>
            </c:spPr>
          </c:dPt>
          <c:dPt>
            <c:idx val="4"/>
            <c:spPr>
              <a:solidFill xmlns:a="http://schemas.openxmlformats.org/drawingml/2006/main">
                <a:srgbClr val="EF9F42"/>
              </a:solidFill>
              <a:ln xmlns:a="http://schemas.openxmlformats.org/drawingml/2006/main" w="9525">
                <a:solidFill>
                  <a:srgbClr val="FFFFFF"/>
                </a:solidFill>
                <a:prstDash val="solid"/>
              </a:ln>
            </c:spPr>
          </c:dPt>
          <c:dPt>
            <c:idx val="5"/>
            <c:spPr>
              <a:solidFill xmlns:a="http://schemas.openxmlformats.org/drawingml/2006/main">
                <a:srgbClr val="C9513F"/>
              </a:solidFill>
              <a:ln xmlns:a="http://schemas.openxmlformats.org/drawingml/2006/main" w="9525">
                <a:solidFill>
                  <a:srgbClr val="FFFFFF"/>
                </a:solidFill>
                <a:prstDash val="solid"/>
              </a:ln>
            </c:spPr>
          </c:dPt>
          <c:cat>
            <c:strLit>
              <c:ptCount val="6"/>
              <c:pt idx="0">
                <c:v>0-7 days</c:v>
              </c:pt>
              <c:pt idx="1">
                <c:v>8-14 days</c:v>
              </c:pt>
              <c:pt idx="2">
                <c:v>15-21 days</c:v>
              </c:pt>
              <c:pt idx="3">
                <c:v>22-30 days</c:v>
              </c:pt>
              <c:pt idx="4">
                <c:v>31-60 days</c:v>
              </c:pt>
              <c:pt idx="5">
                <c:v>60+ days</c:v>
              </c:pt>
            </c:strLit>
          </c:cat>
          <c:val>
            <c:numLit>
              <c:formatCode>General</c:formatCode>
              <c:ptCount val="6"/>
              <c:pt idx="0">
                <c:v>718</c:v>
              </c:pt>
              <c:pt idx="1">
                <c:v>238</c:v>
              </c:pt>
              <c:pt idx="2">
                <c:v>150</c:v>
              </c:pt>
              <c:pt idx="3">
                <c:v>143</c:v>
              </c:pt>
              <c:pt idx="4">
                <c:v>291</c:v>
              </c:pt>
              <c:pt idx="5">
                <c:v>274</c:v>
              </c:pt>
            </c:numLit>
          </c:val>
        </c:ser>
        <c:firstSliceAng val="270"/>
        <c:holeSize val="58"/>
      </c:doughnutChart>
      <c:spPr>
        <a:noFill xmlns:a="http://schemas.openxmlformats.org/drawingml/2006/main"/>
      </c:spPr>
    </c:plotArea>
    <c:plotVisOnly val="1"/>
  </c:chart>
  <c:spPr>
    <a:noFill xmlns:a="http://schemas.openxmlformats.org/drawingml/2006/main"/>
  </c:spPr>
</c:chartSpace>
</file>

<file path=ppt/slides/charts/chart3.xml><?xml version="1.0" encoding="utf-8"?>
<c:chartSpace xmlns:c="http://schemas.openxmlformats.org/drawingml/2006/chart">
  <c:lang val="en-US"/>
  <c:chart>
    <c:plotArea>
      <c:doughnutChart>
        <c:ser>
          <c:idx val="0"/>
          <c:order val="0"/>
          <c:tx>
            <c:v>Tickets</c:v>
          </c:tx>
          <c:dPt>
            <c:idx val="0"/>
            <c:spPr>
              <a:solidFill xmlns:a="http://schemas.openxmlformats.org/drawingml/2006/main">
                <a:srgbClr val="0F8F8C"/>
              </a:solidFill>
              <a:ln xmlns:a="http://schemas.openxmlformats.org/drawingml/2006/main" w="9525">
                <a:solidFill>
                  <a:srgbClr val="FFFFFF"/>
                </a:solidFill>
                <a:prstDash val="solid"/>
              </a:ln>
            </c:spPr>
          </c:dPt>
          <c:dPt>
            <c:idx val="1"/>
            <c:spPr>
              <a:solidFill xmlns:a="http://schemas.openxmlformats.org/drawingml/2006/main">
                <a:srgbClr val="4F8F42"/>
              </a:solidFill>
              <a:ln xmlns:a="http://schemas.openxmlformats.org/drawingml/2006/main" w="9525">
                <a:solidFill>
                  <a:srgbClr val="FFFFFF"/>
                </a:solidFill>
                <a:prstDash val="solid"/>
              </a:ln>
            </c:spPr>
          </c:dPt>
          <c:dPt>
            <c:idx val="2"/>
            <c:spPr>
              <a:solidFill xmlns:a="http://schemas.openxmlformats.org/drawingml/2006/main">
                <a:srgbClr val="2474A6"/>
              </a:solidFill>
              <a:ln xmlns:a="http://schemas.openxmlformats.org/drawingml/2006/main" w="9525">
                <a:solidFill>
                  <a:srgbClr val="FFFFFF"/>
                </a:solidFill>
                <a:prstDash val="solid"/>
              </a:ln>
            </c:spPr>
          </c:dPt>
          <c:dPt>
            <c:idx val="3"/>
            <c:spPr>
              <a:solidFill xmlns:a="http://schemas.openxmlformats.org/drawingml/2006/main">
                <a:srgbClr val="D88A18"/>
              </a:solidFill>
              <a:ln xmlns:a="http://schemas.openxmlformats.org/drawingml/2006/main" w="9525">
                <a:solidFill>
                  <a:srgbClr val="FFFFFF"/>
                </a:solidFill>
                <a:prstDash val="solid"/>
              </a:ln>
            </c:spPr>
          </c:dPt>
          <c:dPt>
            <c:idx val="4"/>
            <c:spPr>
              <a:solidFill xmlns:a="http://schemas.openxmlformats.org/drawingml/2006/main">
                <a:srgbClr val="EF9F42"/>
              </a:solidFill>
              <a:ln xmlns:a="http://schemas.openxmlformats.org/drawingml/2006/main" w="9525">
                <a:solidFill>
                  <a:srgbClr val="FFFFFF"/>
                </a:solidFill>
                <a:prstDash val="solid"/>
              </a:ln>
            </c:spPr>
          </c:dPt>
          <c:dPt>
            <c:idx val="5"/>
            <c:spPr>
              <a:solidFill xmlns:a="http://schemas.openxmlformats.org/drawingml/2006/main">
                <a:srgbClr val="C9513F"/>
              </a:solidFill>
              <a:ln xmlns:a="http://schemas.openxmlformats.org/drawingml/2006/main" w="9525">
                <a:solidFill>
                  <a:srgbClr val="FFFFFF"/>
                </a:solidFill>
                <a:prstDash val="solid"/>
              </a:ln>
            </c:spPr>
          </c:dPt>
          <c:cat>
            <c:strLit>
              <c:ptCount val="6"/>
              <c:pt idx="0">
                <c:v>0-7 days</c:v>
              </c:pt>
              <c:pt idx="1">
                <c:v>8-14 days</c:v>
              </c:pt>
              <c:pt idx="2">
                <c:v>15-21 days</c:v>
              </c:pt>
              <c:pt idx="3">
                <c:v>22-30 days</c:v>
              </c:pt>
              <c:pt idx="4">
                <c:v>31-60 days</c:v>
              </c:pt>
              <c:pt idx="5">
                <c:v>60+ days</c:v>
              </c:pt>
            </c:strLit>
          </c:cat>
          <c:val>
            <c:numLit>
              <c:formatCode>General</c:formatCode>
              <c:ptCount val="6"/>
              <c:pt idx="0">
                <c:v>78</c:v>
              </c:pt>
              <c:pt idx="1">
                <c:v>22</c:v>
              </c:pt>
              <c:pt idx="2">
                <c:v>9</c:v>
              </c:pt>
              <c:pt idx="3">
                <c:v>13</c:v>
              </c:pt>
              <c:pt idx="4">
                <c:v>35</c:v>
              </c:pt>
              <c:pt idx="5">
                <c:v>52</c:v>
              </c:pt>
            </c:numLit>
          </c:val>
        </c:ser>
        <c:firstSliceAng val="270"/>
        <c:holeSize val="58"/>
      </c:doughnutChart>
      <c:spPr>
        <a:noFill xmlns:a="http://schemas.openxmlformats.org/drawingml/2006/main"/>
      </c:spPr>
    </c:plotArea>
    <c:plotVisOnly val="1"/>
  </c:chart>
  <c:spPr>
    <a:noFill xmlns:a="http://schemas.openxmlformats.org/drawingml/2006/main"/>
  </c:spPr>
</c:chartSpace>
</file>

<file path=ppt/slides/charts/chart4.xml><?xml version="1.0" encoding="utf-8"?>
<c:chartSpace xmlns:c="http://schemas.openxmlformats.org/drawingml/2006/chart">
  <c:lang val="en-US"/>
  <c:chart>
    <c:plotArea>
      <c:doughnutChart>
        <c:ser>
          <c:idx val="0"/>
          <c:order val="0"/>
          <c:tx>
            <c:v>Tickets</c:v>
          </c:tx>
          <c:dPt>
            <c:idx val="0"/>
            <c:spPr>
              <a:solidFill xmlns:a="http://schemas.openxmlformats.org/drawingml/2006/main">
                <a:srgbClr val="0F8F8C"/>
              </a:solidFill>
              <a:ln xmlns:a="http://schemas.openxmlformats.org/drawingml/2006/main" w="9525">
                <a:solidFill>
                  <a:srgbClr val="FFFFFF"/>
                </a:solidFill>
                <a:prstDash val="solid"/>
              </a:ln>
            </c:spPr>
          </c:dPt>
          <c:dPt>
            <c:idx val="1"/>
            <c:spPr>
              <a:solidFill xmlns:a="http://schemas.openxmlformats.org/drawingml/2006/main">
                <a:srgbClr val="4F8F42"/>
              </a:solidFill>
              <a:ln xmlns:a="http://schemas.openxmlformats.org/drawingml/2006/main" w="9525">
                <a:solidFill>
                  <a:srgbClr val="FFFFFF"/>
                </a:solidFill>
                <a:prstDash val="solid"/>
              </a:ln>
            </c:spPr>
          </c:dPt>
          <c:dPt>
            <c:idx val="2"/>
            <c:spPr>
              <a:solidFill xmlns:a="http://schemas.openxmlformats.org/drawingml/2006/main">
                <a:srgbClr val="2474A6"/>
              </a:solidFill>
              <a:ln xmlns:a="http://schemas.openxmlformats.org/drawingml/2006/main" w="9525">
                <a:solidFill>
                  <a:srgbClr val="FFFFFF"/>
                </a:solidFill>
                <a:prstDash val="solid"/>
              </a:ln>
            </c:spPr>
          </c:dPt>
          <c:dPt>
            <c:idx val="3"/>
            <c:spPr>
              <a:solidFill xmlns:a="http://schemas.openxmlformats.org/drawingml/2006/main">
                <a:srgbClr val="D88A18"/>
              </a:solidFill>
              <a:ln xmlns:a="http://schemas.openxmlformats.org/drawingml/2006/main" w="9525">
                <a:solidFill>
                  <a:srgbClr val="FFFFFF"/>
                </a:solidFill>
                <a:prstDash val="solid"/>
              </a:ln>
            </c:spPr>
          </c:dPt>
          <c:dPt>
            <c:idx val="4"/>
            <c:spPr>
              <a:solidFill xmlns:a="http://schemas.openxmlformats.org/drawingml/2006/main">
                <a:srgbClr val="EF9F42"/>
              </a:solidFill>
              <a:ln xmlns:a="http://schemas.openxmlformats.org/drawingml/2006/main" w="9525">
                <a:solidFill>
                  <a:srgbClr val="FFFFFF"/>
                </a:solidFill>
                <a:prstDash val="solid"/>
              </a:ln>
            </c:spPr>
          </c:dPt>
          <c:dPt>
            <c:idx val="5"/>
            <c:spPr>
              <a:solidFill xmlns:a="http://schemas.openxmlformats.org/drawingml/2006/main">
                <a:srgbClr val="C9513F"/>
              </a:solidFill>
              <a:ln xmlns:a="http://schemas.openxmlformats.org/drawingml/2006/main" w="9525">
                <a:solidFill>
                  <a:srgbClr val="FFFFFF"/>
                </a:solidFill>
                <a:prstDash val="solid"/>
              </a:ln>
            </c:spPr>
          </c:dPt>
          <c:cat>
            <c:strLit>
              <c:ptCount val="6"/>
              <c:pt idx="0">
                <c:v>0-7 days</c:v>
              </c:pt>
              <c:pt idx="1">
                <c:v>8-14 days</c:v>
              </c:pt>
              <c:pt idx="2">
                <c:v>15-21 days</c:v>
              </c:pt>
              <c:pt idx="3">
                <c:v>22-30 days</c:v>
              </c:pt>
              <c:pt idx="4">
                <c:v>31-60 days</c:v>
              </c:pt>
              <c:pt idx="5">
                <c:v>60+ days</c:v>
              </c:pt>
            </c:strLit>
          </c:cat>
          <c:val>
            <c:numLit>
              <c:formatCode>General</c:formatCode>
              <c:ptCount val="6"/>
              <c:pt idx="0">
                <c:v>3</c:v>
              </c:pt>
              <c:pt idx="1">
                <c:v>2</c:v>
              </c:pt>
              <c:pt idx="2">
                <c:v>2</c:v>
              </c:pt>
              <c:pt idx="3">
                <c:v>0</c:v>
              </c:pt>
              <c:pt idx="4">
                <c:v>2</c:v>
              </c:pt>
              <c:pt idx="5">
                <c:v>11</c:v>
              </c:pt>
            </c:numLit>
          </c:val>
        </c:ser>
        <c:firstSliceAng val="270"/>
        <c:holeSize val="58"/>
      </c:doughnutChart>
      <c:spPr>
        <a:noFill xmlns:a="http://schemas.openxmlformats.org/drawingml/2006/main"/>
      </c:spPr>
    </c:plotArea>
    <c:plotVisOnly val="1"/>
  </c:chart>
  <c:spPr>
    <a:noFill xmlns:a="http://schemas.openxmlformats.org/drawingml/2006/main"/>
  </c:spPr>
</c:chartSpace>
</file>

<file path=ppt/slides/charts/chart5.xml><?xml version="1.0" encoding="utf-8"?>
<c:chartSpace xmlns:c="http://schemas.openxmlformats.org/drawingml/2006/chart">
  <c:lang val="en-US"/>
  <c:chart>
    <c:plotArea>
      <c:doughnutChart>
        <c:ser>
          <c:idx val="0"/>
          <c:order val="0"/>
          <c:tx>
            <c:v>Tickets</c:v>
          </c:tx>
          <c:dPt>
            <c:idx val="0"/>
            <c:spPr>
              <a:solidFill xmlns:a="http://schemas.openxmlformats.org/drawingml/2006/main">
                <a:srgbClr val="0F8F8C"/>
              </a:solidFill>
              <a:ln xmlns:a="http://schemas.openxmlformats.org/drawingml/2006/main" w="9525">
                <a:solidFill>
                  <a:srgbClr val="FFFFFF"/>
                </a:solidFill>
                <a:prstDash val="solid"/>
              </a:ln>
            </c:spPr>
          </c:dPt>
          <c:dPt>
            <c:idx val="1"/>
            <c:spPr>
              <a:solidFill xmlns:a="http://schemas.openxmlformats.org/drawingml/2006/main">
                <a:srgbClr val="4F8F42"/>
              </a:solidFill>
              <a:ln xmlns:a="http://schemas.openxmlformats.org/drawingml/2006/main" w="9525">
                <a:solidFill>
                  <a:srgbClr val="FFFFFF"/>
                </a:solidFill>
                <a:prstDash val="solid"/>
              </a:ln>
            </c:spPr>
          </c:dPt>
          <c:dPt>
            <c:idx val="2"/>
            <c:spPr>
              <a:solidFill xmlns:a="http://schemas.openxmlformats.org/drawingml/2006/main">
                <a:srgbClr val="2474A6"/>
              </a:solidFill>
              <a:ln xmlns:a="http://schemas.openxmlformats.org/drawingml/2006/main" w="9525">
                <a:solidFill>
                  <a:srgbClr val="FFFFFF"/>
                </a:solidFill>
                <a:prstDash val="solid"/>
              </a:ln>
            </c:spPr>
          </c:dPt>
          <c:dPt>
            <c:idx val="3"/>
            <c:spPr>
              <a:solidFill xmlns:a="http://schemas.openxmlformats.org/drawingml/2006/main">
                <a:srgbClr val="D88A18"/>
              </a:solidFill>
              <a:ln xmlns:a="http://schemas.openxmlformats.org/drawingml/2006/main" w="9525">
                <a:solidFill>
                  <a:srgbClr val="FFFFFF"/>
                </a:solidFill>
                <a:prstDash val="solid"/>
              </a:ln>
            </c:spPr>
          </c:dPt>
          <c:dPt>
            <c:idx val="4"/>
            <c:spPr>
              <a:solidFill xmlns:a="http://schemas.openxmlformats.org/drawingml/2006/main">
                <a:srgbClr val="EF9F42"/>
              </a:solidFill>
              <a:ln xmlns:a="http://schemas.openxmlformats.org/drawingml/2006/main" w="9525">
                <a:solidFill>
                  <a:srgbClr val="FFFFFF"/>
                </a:solidFill>
                <a:prstDash val="solid"/>
              </a:ln>
            </c:spPr>
          </c:dPt>
          <c:dPt>
            <c:idx val="5"/>
            <c:spPr>
              <a:solidFill xmlns:a="http://schemas.openxmlformats.org/drawingml/2006/main">
                <a:srgbClr val="C9513F"/>
              </a:solidFill>
              <a:ln xmlns:a="http://schemas.openxmlformats.org/drawingml/2006/main" w="9525">
                <a:solidFill>
                  <a:srgbClr val="FFFFFF"/>
                </a:solidFill>
                <a:prstDash val="solid"/>
              </a:ln>
            </c:spPr>
          </c:dPt>
          <c:cat>
            <c:strLit>
              <c:ptCount val="6"/>
              <c:pt idx="0">
                <c:v>0-7 days</c:v>
              </c:pt>
              <c:pt idx="1">
                <c:v>8-14 days</c:v>
              </c:pt>
              <c:pt idx="2">
                <c:v>15-21 days</c:v>
              </c:pt>
              <c:pt idx="3">
                <c:v>22-30 days</c:v>
              </c:pt>
              <c:pt idx="4">
                <c:v>31-60 days</c:v>
              </c:pt>
              <c:pt idx="5">
                <c:v>60+ days</c:v>
              </c:pt>
            </c:strLit>
          </c:cat>
          <c:val>
            <c:numLit>
              <c:formatCode>General</c:formatCode>
              <c:ptCount val="6"/>
              <c:pt idx="0">
                <c:v>457</c:v>
              </c:pt>
              <c:pt idx="1">
                <c:v>608</c:v>
              </c:pt>
              <c:pt idx="2">
                <c:v>283</c:v>
              </c:pt>
              <c:pt idx="3">
                <c:v>140</c:v>
              </c:pt>
              <c:pt idx="4">
                <c:v>209</c:v>
              </c:pt>
              <c:pt idx="5">
                <c:v>70</c:v>
              </c:pt>
            </c:numLit>
          </c:val>
        </c:ser>
        <c:firstSliceAng val="270"/>
        <c:holeSize val="58"/>
      </c:doughnutChart>
      <c:spPr>
        <a:noFill xmlns:a="http://schemas.openxmlformats.org/drawingml/2006/main"/>
      </c:spPr>
    </c:plotArea>
    <c:plotVisOnly val="1"/>
  </c:chart>
  <c:spPr>
    <a:noFill xmlns:a="http://schemas.openxmlformats.org/drawingml/2006/main"/>
  </c:spPr>
</c:chartSpace>
</file>

<file path=ppt/slides/charts/chart6.xml><?xml version="1.0" encoding="utf-8"?>
<c:chartSpace xmlns:c="http://schemas.openxmlformats.org/drawingml/2006/chart">
  <c:lang val="en-US"/>
  <c:chart>
    <c:plotArea>
      <c:doughnutChart>
        <c:ser>
          <c:idx val="0"/>
          <c:order val="0"/>
          <c:tx>
            <c:v>Tickets</c:v>
          </c:tx>
          <c:dPt>
            <c:idx val="0"/>
            <c:spPr>
              <a:solidFill xmlns:a="http://schemas.openxmlformats.org/drawingml/2006/main">
                <a:srgbClr val="0F8F8C"/>
              </a:solidFill>
              <a:ln xmlns:a="http://schemas.openxmlformats.org/drawingml/2006/main" w="9525">
                <a:solidFill>
                  <a:srgbClr val="FFFFFF"/>
                </a:solidFill>
                <a:prstDash val="solid"/>
              </a:ln>
            </c:spPr>
          </c:dPt>
          <c:dPt>
            <c:idx val="1"/>
            <c:spPr>
              <a:solidFill xmlns:a="http://schemas.openxmlformats.org/drawingml/2006/main">
                <a:srgbClr val="4F8F42"/>
              </a:solidFill>
              <a:ln xmlns:a="http://schemas.openxmlformats.org/drawingml/2006/main" w="9525">
                <a:solidFill>
                  <a:srgbClr val="FFFFFF"/>
                </a:solidFill>
                <a:prstDash val="solid"/>
              </a:ln>
            </c:spPr>
          </c:dPt>
          <c:dPt>
            <c:idx val="2"/>
            <c:spPr>
              <a:solidFill xmlns:a="http://schemas.openxmlformats.org/drawingml/2006/main">
                <a:srgbClr val="2474A6"/>
              </a:solidFill>
              <a:ln xmlns:a="http://schemas.openxmlformats.org/drawingml/2006/main" w="9525">
                <a:solidFill>
                  <a:srgbClr val="FFFFFF"/>
                </a:solidFill>
                <a:prstDash val="solid"/>
              </a:ln>
            </c:spPr>
          </c:dPt>
          <c:dPt>
            <c:idx val="3"/>
            <c:spPr>
              <a:solidFill xmlns:a="http://schemas.openxmlformats.org/drawingml/2006/main">
                <a:srgbClr val="D88A18"/>
              </a:solidFill>
              <a:ln xmlns:a="http://schemas.openxmlformats.org/drawingml/2006/main" w="9525">
                <a:solidFill>
                  <a:srgbClr val="FFFFFF"/>
                </a:solidFill>
                <a:prstDash val="solid"/>
              </a:ln>
            </c:spPr>
          </c:dPt>
          <c:dPt>
            <c:idx val="4"/>
            <c:spPr>
              <a:solidFill xmlns:a="http://schemas.openxmlformats.org/drawingml/2006/main">
                <a:srgbClr val="EF9F42"/>
              </a:solidFill>
              <a:ln xmlns:a="http://schemas.openxmlformats.org/drawingml/2006/main" w="9525">
                <a:solidFill>
                  <a:srgbClr val="FFFFFF"/>
                </a:solidFill>
                <a:prstDash val="solid"/>
              </a:ln>
            </c:spPr>
          </c:dPt>
          <c:dPt>
            <c:idx val="5"/>
            <c:spPr>
              <a:solidFill xmlns:a="http://schemas.openxmlformats.org/drawingml/2006/main">
                <a:srgbClr val="C9513F"/>
              </a:solidFill>
              <a:ln xmlns:a="http://schemas.openxmlformats.org/drawingml/2006/main" w="9525">
                <a:solidFill>
                  <a:srgbClr val="FFFFFF"/>
                </a:solidFill>
                <a:prstDash val="solid"/>
              </a:ln>
            </c:spPr>
          </c:dPt>
          <c:cat>
            <c:strLit>
              <c:ptCount val="6"/>
              <c:pt idx="0">
                <c:v>0-7 days</c:v>
              </c:pt>
              <c:pt idx="1">
                <c:v>8-14 days</c:v>
              </c:pt>
              <c:pt idx="2">
                <c:v>15-21 days</c:v>
              </c:pt>
              <c:pt idx="3">
                <c:v>22-30 days</c:v>
              </c:pt>
              <c:pt idx="4">
                <c:v>31-60 days</c:v>
              </c:pt>
              <c:pt idx="5">
                <c:v>60+ days</c:v>
              </c:pt>
            </c:strLit>
          </c:cat>
          <c:val>
            <c:numLit>
              <c:formatCode>General</c:formatCode>
              <c:ptCount val="6"/>
              <c:pt idx="0">
                <c:v>207</c:v>
              </c:pt>
              <c:pt idx="1">
                <c:v>352</c:v>
              </c:pt>
              <c:pt idx="2">
                <c:v>216</c:v>
              </c:pt>
              <c:pt idx="3">
                <c:v>164</c:v>
              </c:pt>
              <c:pt idx="4">
                <c:v>273</c:v>
              </c:pt>
              <c:pt idx="5">
                <c:v>107</c:v>
              </c:pt>
            </c:numLit>
          </c:val>
        </c:ser>
        <c:firstSliceAng val="270"/>
        <c:holeSize val="58"/>
      </c:doughnutChart>
      <c:spPr>
        <a:noFill xmlns:a="http://schemas.openxmlformats.org/drawingml/2006/main"/>
      </c:spPr>
    </c:plotArea>
    <c:plotVisOnly val="1"/>
  </c:chart>
  <c:spPr>
    <a:noFill xmlns:a="http://schemas.openxmlformats.org/drawingml/2006/main"/>
  </c:spPr>
</c:chartSpace>
</file>

<file path=ppt/slides/charts/chart7.xml><?xml version="1.0" encoding="utf-8"?>
<c:chartSpace xmlns:c="http://schemas.openxmlformats.org/drawingml/2006/chart">
  <c:lang val="en-US"/>
  <c:chart>
    <c:plotArea>
      <c:doughnutChart>
        <c:ser>
          <c:idx val="0"/>
          <c:order val="0"/>
          <c:tx>
            <c:v>Tickets</c:v>
          </c:tx>
          <c:dPt>
            <c:idx val="0"/>
            <c:spPr>
              <a:solidFill xmlns:a="http://schemas.openxmlformats.org/drawingml/2006/main">
                <a:srgbClr val="0F8F8C"/>
              </a:solidFill>
              <a:ln xmlns:a="http://schemas.openxmlformats.org/drawingml/2006/main" w="9525">
                <a:solidFill>
                  <a:srgbClr val="FFFFFF"/>
                </a:solidFill>
                <a:prstDash val="solid"/>
              </a:ln>
            </c:spPr>
          </c:dPt>
          <c:dPt>
            <c:idx val="1"/>
            <c:spPr>
              <a:solidFill xmlns:a="http://schemas.openxmlformats.org/drawingml/2006/main">
                <a:srgbClr val="4F8F42"/>
              </a:solidFill>
              <a:ln xmlns:a="http://schemas.openxmlformats.org/drawingml/2006/main" w="9525">
                <a:solidFill>
                  <a:srgbClr val="FFFFFF"/>
                </a:solidFill>
                <a:prstDash val="solid"/>
              </a:ln>
            </c:spPr>
          </c:dPt>
          <c:dPt>
            <c:idx val="2"/>
            <c:spPr>
              <a:solidFill xmlns:a="http://schemas.openxmlformats.org/drawingml/2006/main">
                <a:srgbClr val="2474A6"/>
              </a:solidFill>
              <a:ln xmlns:a="http://schemas.openxmlformats.org/drawingml/2006/main" w="9525">
                <a:solidFill>
                  <a:srgbClr val="FFFFFF"/>
                </a:solidFill>
                <a:prstDash val="solid"/>
              </a:ln>
            </c:spPr>
          </c:dPt>
          <c:dPt>
            <c:idx val="3"/>
            <c:spPr>
              <a:solidFill xmlns:a="http://schemas.openxmlformats.org/drawingml/2006/main">
                <a:srgbClr val="D88A18"/>
              </a:solidFill>
              <a:ln xmlns:a="http://schemas.openxmlformats.org/drawingml/2006/main" w="9525">
                <a:solidFill>
                  <a:srgbClr val="FFFFFF"/>
                </a:solidFill>
                <a:prstDash val="solid"/>
              </a:ln>
            </c:spPr>
          </c:dPt>
          <c:dPt>
            <c:idx val="4"/>
            <c:spPr>
              <a:solidFill xmlns:a="http://schemas.openxmlformats.org/drawingml/2006/main">
                <a:srgbClr val="EF9F42"/>
              </a:solidFill>
              <a:ln xmlns:a="http://schemas.openxmlformats.org/drawingml/2006/main" w="9525">
                <a:solidFill>
                  <a:srgbClr val="FFFFFF"/>
                </a:solidFill>
                <a:prstDash val="solid"/>
              </a:ln>
            </c:spPr>
          </c:dPt>
          <c:dPt>
            <c:idx val="5"/>
            <c:spPr>
              <a:solidFill xmlns:a="http://schemas.openxmlformats.org/drawingml/2006/main">
                <a:srgbClr val="C9513F"/>
              </a:solidFill>
              <a:ln xmlns:a="http://schemas.openxmlformats.org/drawingml/2006/main" w="9525">
                <a:solidFill>
                  <a:srgbClr val="FFFFFF"/>
                </a:solidFill>
                <a:prstDash val="solid"/>
              </a:ln>
            </c:spPr>
          </c:dPt>
          <c:cat>
            <c:strLit>
              <c:ptCount val="6"/>
              <c:pt idx="0">
                <c:v>0-7 days</c:v>
              </c:pt>
              <c:pt idx="1">
                <c:v>8-14 days</c:v>
              </c:pt>
              <c:pt idx="2">
                <c:v>15-21 days</c:v>
              </c:pt>
              <c:pt idx="3">
                <c:v>22-30 days</c:v>
              </c:pt>
              <c:pt idx="4">
                <c:v>31-60 days</c:v>
              </c:pt>
              <c:pt idx="5">
                <c:v>60+ days</c:v>
              </c:pt>
            </c:strLit>
          </c:cat>
          <c:val>
            <c:numLit>
              <c:formatCode>General</c:formatCode>
              <c:ptCount val="6"/>
              <c:pt idx="0">
                <c:v>8</c:v>
              </c:pt>
              <c:pt idx="1">
                <c:v>24</c:v>
              </c:pt>
              <c:pt idx="2">
                <c:v>17</c:v>
              </c:pt>
              <c:pt idx="3">
                <c:v>8</c:v>
              </c:pt>
              <c:pt idx="4">
                <c:v>20</c:v>
              </c:pt>
              <c:pt idx="5">
                <c:v>4</c:v>
              </c:pt>
            </c:numLit>
          </c:val>
        </c:ser>
        <c:firstSliceAng val="270"/>
        <c:holeSize val="58"/>
      </c:doughnutChart>
      <c:spPr>
        <a:noFill xmlns:a="http://schemas.openxmlformats.org/drawingml/2006/main"/>
      </c:spPr>
    </c:plotArea>
    <c:plotVisOnly val="1"/>
  </c:chart>
  <c:spPr>
    <a:noFill xmlns:a="http://schemas.openxmlformats.org/drawingml/2006/main"/>
  </c:spPr>
</c:chartSpace>
</file>

<file path=ppt/slides/charts/chart8.xml><?xml version="1.0" encoding="utf-8"?>
<c:chartSpace xmlns:c="http://schemas.openxmlformats.org/drawingml/2006/chart">
  <c:lang val="en-US"/>
  <c:chart>
    <c:plotArea>
      <c:doughnutChart>
        <c:ser>
          <c:idx val="0"/>
          <c:order val="0"/>
          <c:tx>
            <c:v>Tickets</c:v>
          </c:tx>
          <c:dPt>
            <c:idx val="0"/>
            <c:spPr>
              <a:solidFill xmlns:a="http://schemas.openxmlformats.org/drawingml/2006/main">
                <a:srgbClr val="0F8F8C"/>
              </a:solidFill>
              <a:ln xmlns:a="http://schemas.openxmlformats.org/drawingml/2006/main" w="9525">
                <a:solidFill>
                  <a:srgbClr val="FFFFFF"/>
                </a:solidFill>
                <a:prstDash val="solid"/>
              </a:ln>
            </c:spPr>
          </c:dPt>
          <c:dPt>
            <c:idx val="1"/>
            <c:spPr>
              <a:solidFill xmlns:a="http://schemas.openxmlformats.org/drawingml/2006/main">
                <a:srgbClr val="4F8F42"/>
              </a:solidFill>
              <a:ln xmlns:a="http://schemas.openxmlformats.org/drawingml/2006/main" w="9525">
                <a:solidFill>
                  <a:srgbClr val="FFFFFF"/>
                </a:solidFill>
                <a:prstDash val="solid"/>
              </a:ln>
            </c:spPr>
          </c:dPt>
          <c:dPt>
            <c:idx val="2"/>
            <c:spPr>
              <a:solidFill xmlns:a="http://schemas.openxmlformats.org/drawingml/2006/main">
                <a:srgbClr val="2474A6"/>
              </a:solidFill>
              <a:ln xmlns:a="http://schemas.openxmlformats.org/drawingml/2006/main" w="9525">
                <a:solidFill>
                  <a:srgbClr val="FFFFFF"/>
                </a:solidFill>
                <a:prstDash val="solid"/>
              </a:ln>
            </c:spPr>
          </c:dPt>
          <c:dPt>
            <c:idx val="3"/>
            <c:spPr>
              <a:solidFill xmlns:a="http://schemas.openxmlformats.org/drawingml/2006/main">
                <a:srgbClr val="D88A18"/>
              </a:solidFill>
              <a:ln xmlns:a="http://schemas.openxmlformats.org/drawingml/2006/main" w="9525">
                <a:solidFill>
                  <a:srgbClr val="FFFFFF"/>
                </a:solidFill>
                <a:prstDash val="solid"/>
              </a:ln>
            </c:spPr>
          </c:dPt>
          <c:dPt>
            <c:idx val="4"/>
            <c:spPr>
              <a:solidFill xmlns:a="http://schemas.openxmlformats.org/drawingml/2006/main">
                <a:srgbClr val="EF9F42"/>
              </a:solidFill>
              <a:ln xmlns:a="http://schemas.openxmlformats.org/drawingml/2006/main" w="9525">
                <a:solidFill>
                  <a:srgbClr val="FFFFFF"/>
                </a:solidFill>
                <a:prstDash val="solid"/>
              </a:ln>
            </c:spPr>
          </c:dPt>
          <c:dPt>
            <c:idx val="5"/>
            <c:spPr>
              <a:solidFill xmlns:a="http://schemas.openxmlformats.org/drawingml/2006/main">
                <a:srgbClr val="C9513F"/>
              </a:solidFill>
              <a:ln xmlns:a="http://schemas.openxmlformats.org/drawingml/2006/main" w="9525">
                <a:solidFill>
                  <a:srgbClr val="FFFFFF"/>
                </a:solidFill>
                <a:prstDash val="solid"/>
              </a:ln>
            </c:spPr>
          </c:dPt>
          <c:cat>
            <c:strLit>
              <c:ptCount val="6"/>
              <c:pt idx="0">
                <c:v>0-7 days</c:v>
              </c:pt>
              <c:pt idx="1">
                <c:v>8-14 days</c:v>
              </c:pt>
              <c:pt idx="2">
                <c:v>15-21 days</c:v>
              </c:pt>
              <c:pt idx="3">
                <c:v>22-30 days</c:v>
              </c:pt>
              <c:pt idx="4">
                <c:v>31-60 days</c:v>
              </c:pt>
              <c:pt idx="5">
                <c:v>60+ days</c:v>
              </c:pt>
            </c:strLit>
          </c:cat>
          <c:val>
            <c:numLit>
              <c:formatCode>General</c:formatCode>
              <c:ptCount val="6"/>
              <c:pt idx="0">
                <c:v>3</c:v>
              </c:pt>
              <c:pt idx="1">
                <c:v>3</c:v>
              </c:pt>
              <c:pt idx="2">
                <c:v>2</c:v>
              </c:pt>
              <c:pt idx="3">
                <c:v>1</c:v>
              </c:pt>
              <c:pt idx="4">
                <c:v>2</c:v>
              </c:pt>
              <c:pt idx="5">
                <c:v>1</c:v>
              </c:pt>
            </c:numLit>
          </c:val>
        </c:ser>
        <c:firstSliceAng val="270"/>
        <c:holeSize val="58"/>
      </c:doughnutChart>
      <c:spPr>
        <a:noFill xmlns:a="http://schemas.openxmlformats.org/drawingml/2006/main"/>
      </c:spPr>
    </c:plotArea>
    <c:plotVisOnly val="1"/>
  </c:chart>
  <c:spPr>
    <a:noFill xmlns:a="http://schemas.openxmlformats.org/drawingml/2006/main"/>
  </c:spPr>
</c:chartSpace>
</file>

<file path=ppt/slides/charts/chart9.xml><?xml version="1.0" encoding="utf-8"?>
<c:chartSpace xmlns:c="http://schemas.openxmlformats.org/drawingml/2006/chart">
  <c:lang val="en-US"/>
  <c:chart>
    <c:plotArea>
      <c:doughnutChart>
        <c:ser>
          <c:idx val="0"/>
          <c:order val="0"/>
          <c:tx>
            <c:v>Tickets</c:v>
          </c:tx>
          <c:dPt>
            <c:idx val="0"/>
            <c:spPr>
              <a:solidFill xmlns:a="http://schemas.openxmlformats.org/drawingml/2006/main">
                <a:srgbClr val="0F8F8C"/>
              </a:solidFill>
              <a:ln xmlns:a="http://schemas.openxmlformats.org/drawingml/2006/main" w="9525">
                <a:solidFill>
                  <a:srgbClr val="FFFFFF"/>
                </a:solidFill>
                <a:prstDash val="solid"/>
              </a:ln>
            </c:spPr>
          </c:dPt>
          <c:dPt>
            <c:idx val="1"/>
            <c:spPr>
              <a:solidFill xmlns:a="http://schemas.openxmlformats.org/drawingml/2006/main">
                <a:srgbClr val="4F8F42"/>
              </a:solidFill>
              <a:ln xmlns:a="http://schemas.openxmlformats.org/drawingml/2006/main" w="9525">
                <a:solidFill>
                  <a:srgbClr val="FFFFFF"/>
                </a:solidFill>
                <a:prstDash val="solid"/>
              </a:ln>
            </c:spPr>
          </c:dPt>
          <c:dPt>
            <c:idx val="2"/>
            <c:spPr>
              <a:solidFill xmlns:a="http://schemas.openxmlformats.org/drawingml/2006/main">
                <a:srgbClr val="2474A6"/>
              </a:solidFill>
              <a:ln xmlns:a="http://schemas.openxmlformats.org/drawingml/2006/main" w="9525">
                <a:solidFill>
                  <a:srgbClr val="FFFFFF"/>
                </a:solidFill>
                <a:prstDash val="solid"/>
              </a:ln>
            </c:spPr>
          </c:dPt>
          <c:dPt>
            <c:idx val="3"/>
            <c:spPr>
              <a:solidFill xmlns:a="http://schemas.openxmlformats.org/drawingml/2006/main">
                <a:srgbClr val="D88A18"/>
              </a:solidFill>
              <a:ln xmlns:a="http://schemas.openxmlformats.org/drawingml/2006/main" w="9525">
                <a:solidFill>
                  <a:srgbClr val="FFFFFF"/>
                </a:solidFill>
                <a:prstDash val="solid"/>
              </a:ln>
            </c:spPr>
          </c:dPt>
          <c:dPt>
            <c:idx val="4"/>
            <c:spPr>
              <a:solidFill xmlns:a="http://schemas.openxmlformats.org/drawingml/2006/main">
                <a:srgbClr val="EF9F42"/>
              </a:solidFill>
              <a:ln xmlns:a="http://schemas.openxmlformats.org/drawingml/2006/main" w="9525">
                <a:solidFill>
                  <a:srgbClr val="FFFFFF"/>
                </a:solidFill>
                <a:prstDash val="solid"/>
              </a:ln>
            </c:spPr>
          </c:dPt>
          <c:dPt>
            <c:idx val="5"/>
            <c:spPr>
              <a:solidFill xmlns:a="http://schemas.openxmlformats.org/drawingml/2006/main">
                <a:srgbClr val="C9513F"/>
              </a:solidFill>
              <a:ln xmlns:a="http://schemas.openxmlformats.org/drawingml/2006/main" w="9525">
                <a:solidFill>
                  <a:srgbClr val="FFFFFF"/>
                </a:solidFill>
                <a:prstDash val="solid"/>
              </a:ln>
            </c:spPr>
          </c:dPt>
          <c:cat>
            <c:strLit>
              <c:ptCount val="6"/>
              <c:pt idx="0">
                <c:v>0-7 days</c:v>
              </c:pt>
              <c:pt idx="1">
                <c:v>8-14 days</c:v>
              </c:pt>
              <c:pt idx="2">
                <c:v>15-21 days</c:v>
              </c:pt>
              <c:pt idx="3">
                <c:v>22-30 days</c:v>
              </c:pt>
              <c:pt idx="4">
                <c:v>31-60 days</c:v>
              </c:pt>
              <c:pt idx="5">
                <c:v>60+ days</c:v>
              </c:pt>
            </c:strLit>
          </c:cat>
          <c:val>
            <c:numLit>
              <c:formatCode>General</c:formatCode>
              <c:ptCount val="6"/>
              <c:pt idx="0">
                <c:v>117</c:v>
              </c:pt>
              <c:pt idx="1">
                <c:v>102</c:v>
              </c:pt>
              <c:pt idx="2">
                <c:v>66</c:v>
              </c:pt>
              <c:pt idx="3">
                <c:v>53</c:v>
              </c:pt>
              <c:pt idx="4">
                <c:v>132</c:v>
              </c:pt>
              <c:pt idx="5">
                <c:v>90</c:v>
              </c:pt>
            </c:numLit>
          </c:val>
        </c:ser>
        <c:firstSliceAng val="270"/>
        <c:holeSize val="58"/>
      </c:doughnutChart>
      <c:spPr>
        <a:noFill xmlns:a="http://schemas.openxmlformats.org/drawingml/2006/main"/>
      </c:spPr>
    </c:plotArea>
    <c:plotVisOnly val="1"/>
  </c:chart>
  <c:spPr>
    <a:noFill xmlns:a="http://schemas.openxmlformats.org/drawingml/2006/main"/>
  </c:spPr>
</c:chartSpace>
</file>

<file path=ppt/slides/charts/chart10.xml><?xml version="1.0" encoding="utf-8"?>
<c:chartSpace xmlns:c="http://schemas.openxmlformats.org/drawingml/2006/chart">
  <c:lang val="en-US"/>
  <c:chart>
    <c:plotArea>
      <c:doughnutChart>
        <c:ser>
          <c:idx val="0"/>
          <c:order val="0"/>
          <c:tx>
            <c:v>Tickets</c:v>
          </c:tx>
          <c:dPt>
            <c:idx val="0"/>
            <c:spPr>
              <a:solidFill xmlns:a="http://schemas.openxmlformats.org/drawingml/2006/main">
                <a:srgbClr val="0F8F8C"/>
              </a:solidFill>
              <a:ln xmlns:a="http://schemas.openxmlformats.org/drawingml/2006/main" w="9525">
                <a:solidFill>
                  <a:srgbClr val="FFFFFF"/>
                </a:solidFill>
                <a:prstDash val="solid"/>
              </a:ln>
            </c:spPr>
          </c:dPt>
          <c:dPt>
            <c:idx val="1"/>
            <c:spPr>
              <a:solidFill xmlns:a="http://schemas.openxmlformats.org/drawingml/2006/main">
                <a:srgbClr val="4F8F42"/>
              </a:solidFill>
              <a:ln xmlns:a="http://schemas.openxmlformats.org/drawingml/2006/main" w="9525">
                <a:solidFill>
                  <a:srgbClr val="FFFFFF"/>
                </a:solidFill>
                <a:prstDash val="solid"/>
              </a:ln>
            </c:spPr>
          </c:dPt>
          <c:dPt>
            <c:idx val="2"/>
            <c:spPr>
              <a:solidFill xmlns:a="http://schemas.openxmlformats.org/drawingml/2006/main">
                <a:srgbClr val="2474A6"/>
              </a:solidFill>
              <a:ln xmlns:a="http://schemas.openxmlformats.org/drawingml/2006/main" w="9525">
                <a:solidFill>
                  <a:srgbClr val="FFFFFF"/>
                </a:solidFill>
                <a:prstDash val="solid"/>
              </a:ln>
            </c:spPr>
          </c:dPt>
          <c:dPt>
            <c:idx val="3"/>
            <c:spPr>
              <a:solidFill xmlns:a="http://schemas.openxmlformats.org/drawingml/2006/main">
                <a:srgbClr val="D88A18"/>
              </a:solidFill>
              <a:ln xmlns:a="http://schemas.openxmlformats.org/drawingml/2006/main" w="9525">
                <a:solidFill>
                  <a:srgbClr val="FFFFFF"/>
                </a:solidFill>
                <a:prstDash val="solid"/>
              </a:ln>
            </c:spPr>
          </c:dPt>
          <c:dPt>
            <c:idx val="4"/>
            <c:spPr>
              <a:solidFill xmlns:a="http://schemas.openxmlformats.org/drawingml/2006/main">
                <a:srgbClr val="EF9F42"/>
              </a:solidFill>
              <a:ln xmlns:a="http://schemas.openxmlformats.org/drawingml/2006/main" w="9525">
                <a:solidFill>
                  <a:srgbClr val="FFFFFF"/>
                </a:solidFill>
                <a:prstDash val="solid"/>
              </a:ln>
            </c:spPr>
          </c:dPt>
          <c:dPt>
            <c:idx val="5"/>
            <c:spPr>
              <a:solidFill xmlns:a="http://schemas.openxmlformats.org/drawingml/2006/main">
                <a:srgbClr val="C9513F"/>
              </a:solidFill>
              <a:ln xmlns:a="http://schemas.openxmlformats.org/drawingml/2006/main" w="9525">
                <a:solidFill>
                  <a:srgbClr val="FFFFFF"/>
                </a:solidFill>
                <a:prstDash val="solid"/>
              </a:ln>
            </c:spPr>
          </c:dPt>
          <c:cat>
            <c:strLit>
              <c:ptCount val="6"/>
              <c:pt idx="0">
                <c:v>0-7 days</c:v>
              </c:pt>
              <c:pt idx="1">
                <c:v>8-14 days</c:v>
              </c:pt>
              <c:pt idx="2">
                <c:v>15-21 days</c:v>
              </c:pt>
              <c:pt idx="3">
                <c:v>22-30 days</c:v>
              </c:pt>
              <c:pt idx="4">
                <c:v>31-60 days</c:v>
              </c:pt>
              <c:pt idx="5">
                <c:v>60+ days</c:v>
              </c:pt>
            </c:strLit>
          </c:cat>
          <c:val>
            <c:numLit>
              <c:formatCode>General</c:formatCode>
              <c:ptCount val="6"/>
              <c:pt idx="0">
                <c:v>45</c:v>
              </c:pt>
              <c:pt idx="1">
                <c:v>51</c:v>
              </c:pt>
              <c:pt idx="2">
                <c:v>53</c:v>
              </c:pt>
              <c:pt idx="3">
                <c:v>41</c:v>
              </c:pt>
              <c:pt idx="4">
                <c:v>110</c:v>
              </c:pt>
              <c:pt idx="5">
                <c:v>63</c:v>
              </c:pt>
            </c:numLit>
          </c:val>
        </c:ser>
        <c:firstSliceAng val="270"/>
        <c:holeSize val="58"/>
      </c:doughnutChart>
      <c:spPr>
        <a:noFill xmlns:a="http://schemas.openxmlformats.org/drawingml/2006/main"/>
      </c:spPr>
    </c:plotArea>
    <c:plotVisOnly val="1"/>
  </c:chart>
  <c:spPr>
    <a:noFill xmlns:a="http://schemas.openxmlformats.org/drawingml/2006/main"/>
  </c:spPr>
</c:chartSpace>
</file>

<file path=ppt/slides/charts/chart11.xml><?xml version="1.0" encoding="utf-8"?>
<c:chartSpace xmlns:c="http://schemas.openxmlformats.org/drawingml/2006/chart">
  <c:lang val="en-US"/>
  <c:chart>
    <c:plotArea>
      <c:doughnutChart>
        <c:ser>
          <c:idx val="0"/>
          <c:order val="0"/>
          <c:tx>
            <c:v>Tickets</c:v>
          </c:tx>
          <c:dPt>
            <c:idx val="0"/>
            <c:spPr>
              <a:solidFill xmlns:a="http://schemas.openxmlformats.org/drawingml/2006/main">
                <a:srgbClr val="0F8F8C"/>
              </a:solidFill>
              <a:ln xmlns:a="http://schemas.openxmlformats.org/drawingml/2006/main" w="9525">
                <a:solidFill>
                  <a:srgbClr val="FFFFFF"/>
                </a:solidFill>
                <a:prstDash val="solid"/>
              </a:ln>
            </c:spPr>
          </c:dPt>
          <c:dPt>
            <c:idx val="1"/>
            <c:spPr>
              <a:solidFill xmlns:a="http://schemas.openxmlformats.org/drawingml/2006/main">
                <a:srgbClr val="4F8F42"/>
              </a:solidFill>
              <a:ln xmlns:a="http://schemas.openxmlformats.org/drawingml/2006/main" w="9525">
                <a:solidFill>
                  <a:srgbClr val="FFFFFF"/>
                </a:solidFill>
                <a:prstDash val="solid"/>
              </a:ln>
            </c:spPr>
          </c:dPt>
          <c:dPt>
            <c:idx val="2"/>
            <c:spPr>
              <a:solidFill xmlns:a="http://schemas.openxmlformats.org/drawingml/2006/main">
                <a:srgbClr val="2474A6"/>
              </a:solidFill>
              <a:ln xmlns:a="http://schemas.openxmlformats.org/drawingml/2006/main" w="9525">
                <a:solidFill>
                  <a:srgbClr val="FFFFFF"/>
                </a:solidFill>
                <a:prstDash val="solid"/>
              </a:ln>
            </c:spPr>
          </c:dPt>
          <c:dPt>
            <c:idx val="3"/>
            <c:spPr>
              <a:solidFill xmlns:a="http://schemas.openxmlformats.org/drawingml/2006/main">
                <a:srgbClr val="D88A18"/>
              </a:solidFill>
              <a:ln xmlns:a="http://schemas.openxmlformats.org/drawingml/2006/main" w="9525">
                <a:solidFill>
                  <a:srgbClr val="FFFFFF"/>
                </a:solidFill>
                <a:prstDash val="solid"/>
              </a:ln>
            </c:spPr>
          </c:dPt>
          <c:dPt>
            <c:idx val="4"/>
            <c:spPr>
              <a:solidFill xmlns:a="http://schemas.openxmlformats.org/drawingml/2006/main">
                <a:srgbClr val="EF9F42"/>
              </a:solidFill>
              <a:ln xmlns:a="http://schemas.openxmlformats.org/drawingml/2006/main" w="9525">
                <a:solidFill>
                  <a:srgbClr val="FFFFFF"/>
                </a:solidFill>
                <a:prstDash val="solid"/>
              </a:ln>
            </c:spPr>
          </c:dPt>
          <c:dPt>
            <c:idx val="5"/>
            <c:spPr>
              <a:solidFill xmlns:a="http://schemas.openxmlformats.org/drawingml/2006/main">
                <a:srgbClr val="C9513F"/>
              </a:solidFill>
              <a:ln xmlns:a="http://schemas.openxmlformats.org/drawingml/2006/main" w="9525">
                <a:solidFill>
                  <a:srgbClr val="FFFFFF"/>
                </a:solidFill>
                <a:prstDash val="solid"/>
              </a:ln>
            </c:spPr>
          </c:dPt>
          <c:cat>
            <c:strLit>
              <c:ptCount val="6"/>
              <c:pt idx="0">
                <c:v>0-7 days</c:v>
              </c:pt>
              <c:pt idx="1">
                <c:v>8-14 days</c:v>
              </c:pt>
              <c:pt idx="2">
                <c:v>15-21 days</c:v>
              </c:pt>
              <c:pt idx="3">
                <c:v>22-30 days</c:v>
              </c:pt>
              <c:pt idx="4">
                <c:v>31-60 days</c:v>
              </c:pt>
              <c:pt idx="5">
                <c:v>60+ days</c:v>
              </c:pt>
            </c:strLit>
          </c:cat>
          <c:val>
            <c:numLit>
              <c:formatCode>General</c:formatCode>
              <c:ptCount val="6"/>
              <c:pt idx="0">
                <c:v>6</c:v>
              </c:pt>
              <c:pt idx="1">
                <c:v>2</c:v>
              </c:pt>
              <c:pt idx="2">
                <c:v>1</c:v>
              </c:pt>
              <c:pt idx="3">
                <c:v>2</c:v>
              </c:pt>
              <c:pt idx="4">
                <c:v>3</c:v>
              </c:pt>
              <c:pt idx="5">
                <c:v>2</c:v>
              </c:pt>
            </c:numLit>
          </c:val>
        </c:ser>
        <c:firstSliceAng val="270"/>
        <c:holeSize val="58"/>
      </c:doughnutChart>
      <c:spPr>
        <a:noFill xmlns:a="http://schemas.openxmlformats.org/drawingml/2006/main"/>
      </c:spPr>
    </c:plotArea>
    <c:plotVisOnly val="1"/>
  </c:chart>
  <c:spPr>
    <a:noFill xmlns:a="http://schemas.openxmlformats.org/drawingml/2006/main"/>
  </c:spPr>
</c:chartSpace>
</file>

<file path=ppt/slides/charts/chart12.xml><?xml version="1.0" encoding="utf-8"?>
<c:chartSpace xmlns:c="http://schemas.openxmlformats.org/drawingml/2006/chart">
  <c:lang val="en-US"/>
  <c:chart>
    <c:plotArea>
      <c:doughnutChart>
        <c:ser>
          <c:idx val="0"/>
          <c:order val="0"/>
          <c:tx>
            <c:v>Tickets</c:v>
          </c:tx>
          <c:dPt>
            <c:idx val="0"/>
            <c:spPr>
              <a:solidFill xmlns:a="http://schemas.openxmlformats.org/drawingml/2006/main">
                <a:srgbClr val="0F8F8C"/>
              </a:solidFill>
              <a:ln xmlns:a="http://schemas.openxmlformats.org/drawingml/2006/main" w="9525">
                <a:solidFill>
                  <a:srgbClr val="FFFFFF"/>
                </a:solidFill>
                <a:prstDash val="solid"/>
              </a:ln>
            </c:spPr>
          </c:dPt>
          <c:dPt>
            <c:idx val="1"/>
            <c:spPr>
              <a:solidFill xmlns:a="http://schemas.openxmlformats.org/drawingml/2006/main">
                <a:srgbClr val="4F8F42"/>
              </a:solidFill>
              <a:ln xmlns:a="http://schemas.openxmlformats.org/drawingml/2006/main" w="9525">
                <a:solidFill>
                  <a:srgbClr val="FFFFFF"/>
                </a:solidFill>
                <a:prstDash val="solid"/>
              </a:ln>
            </c:spPr>
          </c:dPt>
          <c:dPt>
            <c:idx val="2"/>
            <c:spPr>
              <a:solidFill xmlns:a="http://schemas.openxmlformats.org/drawingml/2006/main">
                <a:srgbClr val="2474A6"/>
              </a:solidFill>
              <a:ln xmlns:a="http://schemas.openxmlformats.org/drawingml/2006/main" w="9525">
                <a:solidFill>
                  <a:srgbClr val="FFFFFF"/>
                </a:solidFill>
                <a:prstDash val="solid"/>
              </a:ln>
            </c:spPr>
          </c:dPt>
          <c:dPt>
            <c:idx val="3"/>
            <c:spPr>
              <a:solidFill xmlns:a="http://schemas.openxmlformats.org/drawingml/2006/main">
                <a:srgbClr val="D88A18"/>
              </a:solidFill>
              <a:ln xmlns:a="http://schemas.openxmlformats.org/drawingml/2006/main" w="9525">
                <a:solidFill>
                  <a:srgbClr val="FFFFFF"/>
                </a:solidFill>
                <a:prstDash val="solid"/>
              </a:ln>
            </c:spPr>
          </c:dPt>
          <c:dPt>
            <c:idx val="4"/>
            <c:spPr>
              <a:solidFill xmlns:a="http://schemas.openxmlformats.org/drawingml/2006/main">
                <a:srgbClr val="EF9F42"/>
              </a:solidFill>
              <a:ln xmlns:a="http://schemas.openxmlformats.org/drawingml/2006/main" w="9525">
                <a:solidFill>
                  <a:srgbClr val="FFFFFF"/>
                </a:solidFill>
                <a:prstDash val="solid"/>
              </a:ln>
            </c:spPr>
          </c:dPt>
          <c:dPt>
            <c:idx val="5"/>
            <c:spPr>
              <a:solidFill xmlns:a="http://schemas.openxmlformats.org/drawingml/2006/main">
                <a:srgbClr val="C9513F"/>
              </a:solidFill>
              <a:ln xmlns:a="http://schemas.openxmlformats.org/drawingml/2006/main" w="9525">
                <a:solidFill>
                  <a:srgbClr val="FFFFFF"/>
                </a:solidFill>
                <a:prstDash val="solid"/>
              </a:ln>
            </c:spPr>
          </c:dPt>
          <c:cat>
            <c:strLit>
              <c:ptCount val="6"/>
              <c:pt idx="0">
                <c:v>0-7 days</c:v>
              </c:pt>
              <c:pt idx="1">
                <c:v>8-14 days</c:v>
              </c:pt>
              <c:pt idx="2">
                <c:v>15-21 days</c:v>
              </c:pt>
              <c:pt idx="3">
                <c:v>22-30 days</c:v>
              </c:pt>
              <c:pt idx="4">
                <c:v>31-60 days</c:v>
              </c:pt>
              <c:pt idx="5">
                <c:v>60+ days</c:v>
              </c:pt>
            </c:strLit>
          </c:cat>
          <c:val>
            <c:numLit>
              <c:formatCode>General</c:formatCode>
              <c:ptCount val="6"/>
              <c:pt idx="0">
                <c:v>0</c:v>
              </c:pt>
              <c:pt idx="1">
                <c:v>0</c:v>
              </c:pt>
              <c:pt idx="2">
                <c:v>0</c:v>
              </c:pt>
              <c:pt idx="3">
                <c:v>1</c:v>
              </c:pt>
              <c:pt idx="4">
                <c:v>1</c:v>
              </c:pt>
              <c:pt idx="5">
                <c:v>0</c:v>
              </c:pt>
            </c:numLit>
          </c:val>
        </c:ser>
        <c:firstSliceAng val="270"/>
        <c:holeSize val="58"/>
      </c:doughnutChart>
      <c:spPr>
        <a:noFill xmlns:a="http://schemas.openxmlformats.org/drawingml/2006/main"/>
      </c:spPr>
    </c:plotArea>
    <c:plotVisOnly val="1"/>
  </c:chart>
  <c:spPr>
    <a:noFill xmlns:a="http://schemas.openxmlformats.org/drawingml/2006/main"/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5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09F71A0-B060-483D-AACA-B36A9F95C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266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0F8F8C"/>
                </a:solidFill>
              </a:defRPr>
            </a:pPr>
            <a:r>
              <a:rPr sz="900" b="1">
                <a:solidFill>
                  <a:srgbClr val="0F8F8C"/>
                </a:solidFill>
              </a:rPr>
              <a:t>2026 TICKET TIMELINE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E2281FE-A74C-48C7-A2D8-DAEDD4FCF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8191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72033"/>
                </a:solidFill>
              </a:defRPr>
            </a:pPr>
            <a:r>
              <a:rPr sz="2700" b="1">
                <a:solidFill>
                  <a:srgbClr val="172033"/>
                </a:solidFill>
              </a:rPr>
              <a:t>Price mix shows how ticket value relates to handling duration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B8D07B5-1E9F-4256-B513-33FADACAC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43000"/>
            <a:ext cx="723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647287"/>
                </a:solidFill>
              </a:defRPr>
            </a:pPr>
            <a:r>
              <a:rPr sz="1200">
                <a:solidFill>
                  <a:srgbClr val="647287"/>
                </a:solidFill>
              </a:rPr>
              <a:t>Each stage groups completed tickets by claim value, then shows the percentage of those tickets completed in each duration bucket.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0625749-70CB-42F2-B7C7-A41FFDB8B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09800"/>
            <a:ext cx="3429000" cy="20002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4F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62C7CF5-8A93-4775-A0D7-CA31D0775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19350"/>
            <a:ext cx="3009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72033"/>
                </a:solidFill>
              </a:defRPr>
            </a:pPr>
            <a:r>
              <a:rPr sz="1725" b="1">
                <a:solidFill>
                  <a:srgbClr val="172033"/>
                </a:solidFill>
              </a:rPr>
              <a:t>Warranty Approval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8B2A6A8-4C13-4AF5-9A6B-6FAB76656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857500"/>
            <a:ext cx="3009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2474A6"/>
                </a:solidFill>
              </a:defRPr>
            </a:pPr>
            <a:r>
              <a:rPr sz="1950">
                <a:solidFill>
                  <a:srgbClr val="2474A6"/>
                </a:solidFill>
              </a:rPr>
              <a:t>4,852 priced tickets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2238093-D9E7-4C1B-BE88-7A5965BC0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276600"/>
            <a:ext cx="3009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26176"/>
                </a:solidFill>
              </a:defRPr>
            </a:pPr>
            <a:r>
              <a:rPr sz="1200">
                <a:solidFill>
                  <a:srgbClr val="526176"/>
                </a:solidFill>
              </a:rPr>
              <a:t>Stage average: 24.6 days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1455D91-6026-452A-9D7E-1A7D8D7CF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562350"/>
            <a:ext cx="3009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26176"/>
                </a:solidFill>
              </a:defRPr>
            </a:pPr>
            <a:r>
              <a:rPr sz="1200">
                <a:solidFill>
                  <a:srgbClr val="526176"/>
                </a:solidFill>
              </a:rPr>
              <a:t>Current standard: 25 days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2C53964-FDB8-4CD2-9BD0-4EFC961B6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209800"/>
            <a:ext cx="3429000" cy="20002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4F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B8CBAEB-CEE3-4242-B490-E9382523C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419350"/>
            <a:ext cx="3009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72033"/>
                </a:solidFill>
              </a:defRPr>
            </a:pPr>
            <a:r>
              <a:rPr sz="1725" b="1">
                <a:solidFill>
                  <a:srgbClr val="172033"/>
                </a:solidFill>
              </a:rPr>
              <a:t>Parts Preparation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E3FDA5A-3459-4C49-88E2-3B145D46C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857500"/>
            <a:ext cx="3009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2474A6"/>
                </a:solidFill>
              </a:defRPr>
            </a:pPr>
            <a:r>
              <a:rPr sz="1950">
                <a:solidFill>
                  <a:srgbClr val="2474A6"/>
                </a:solidFill>
              </a:rPr>
              <a:t>3,179 priced tickets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9231894-8802-46CB-99A0-20950C0E5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3276600"/>
            <a:ext cx="3009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26176"/>
                </a:solidFill>
              </a:defRPr>
            </a:pPr>
            <a:r>
              <a:rPr sz="1200">
                <a:solidFill>
                  <a:srgbClr val="526176"/>
                </a:solidFill>
              </a:rPr>
              <a:t>Stage average: 21.0 days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E3E4F41-1F39-4DB1-8B7E-C24E0B6C3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3562350"/>
            <a:ext cx="3009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26176"/>
                </a:solidFill>
              </a:defRPr>
            </a:pPr>
            <a:r>
              <a:rPr sz="1200">
                <a:solidFill>
                  <a:srgbClr val="526176"/>
                </a:solidFill>
              </a:rPr>
              <a:t>Current standard: 21 days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4D05967-17B2-4991-9675-D833A788C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209800"/>
            <a:ext cx="3429000" cy="20002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4F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6BB0048-9F67-4B7B-805C-C79C6FB4B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419350"/>
            <a:ext cx="3009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72033"/>
                </a:solidFill>
              </a:defRPr>
            </a:pPr>
            <a:r>
              <a:rPr sz="1725" b="1">
                <a:solidFill>
                  <a:srgbClr val="172033"/>
                </a:solidFill>
              </a:rPr>
              <a:t>Repairer Time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C723DA3-987B-401C-AA35-C63AF1CFE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857500"/>
            <a:ext cx="3009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2474A6"/>
                </a:solidFill>
              </a:defRPr>
            </a:pPr>
            <a:r>
              <a:rPr sz="1950">
                <a:solidFill>
                  <a:srgbClr val="2474A6"/>
                </a:solidFill>
              </a:rPr>
              <a:t>941 priced tickets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DC0E6E2-20AF-4375-8745-F17DB05AF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276600"/>
            <a:ext cx="3009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26176"/>
                </a:solidFill>
              </a:defRPr>
            </a:pPr>
            <a:r>
              <a:rPr sz="1200">
                <a:solidFill>
                  <a:srgbClr val="526176"/>
                </a:solidFill>
              </a:rPr>
              <a:t>Stage average: 32.5 days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06C4425-E977-4202-A120-E26362C0E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562350"/>
            <a:ext cx="3009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26176"/>
                </a:solidFill>
              </a:defRPr>
            </a:pPr>
            <a:r>
              <a:rPr sz="1200">
                <a:solidFill>
                  <a:srgbClr val="526176"/>
                </a:solidFill>
              </a:rPr>
              <a:t>Current standard: 33 days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BEA2082-0D89-4635-A943-6B47C8910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4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E38BA6B-740E-4A82-8C29-237AC93FA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7A8796"/>
                </a:solidFill>
              </a:defRPr>
            </a:pPr>
            <a:r>
              <a:rPr sz="825">
                <a:solidFill>
                  <a:srgbClr val="7A8796"/>
                </a:solidFill>
              </a:rPr>
              <a:t>Generated from ticket_timeline_summary.json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3261A67-CD10-4F24-ACBD-774378DC1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389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>
                <a:solidFill>
                  <a:srgbClr val="7A8796"/>
                </a:solidFill>
              </a:defRPr>
            </a:pPr>
            <a:r>
              <a:rPr sz="825">
                <a:solidFill>
                  <a:srgbClr val="7A8796"/>
                </a:solidFill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29347010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DF9F2CA3-EC9B-4321-9A6D-01C7AD784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266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0F8F8C"/>
                </a:solidFill>
              </a:defRPr>
            </a:pPr>
            <a:r>
              <a:rPr sz="900" b="1">
                <a:solidFill>
                  <a:srgbClr val="0F8F8C"/>
                </a:solidFill>
              </a:rPr>
              <a:t>2026 TICKET TIMELINE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AD14360-1274-4C32-9DF9-2AAAA6F24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8191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72033"/>
                </a:solidFill>
              </a:defRPr>
            </a:pPr>
            <a:r>
              <a:rPr sz="2700" b="1">
                <a:solidFill>
                  <a:srgbClr val="172033"/>
                </a:solidFill>
              </a:rPr>
              <a:t>Warranty Approval: duration mix by ticket value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490131F-D988-49C2-97DF-C2FF3C9FB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43000"/>
            <a:ext cx="723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647287"/>
                </a:solidFill>
              </a:defRPr>
            </a:pPr>
            <a:r>
              <a:rPr sz="1200">
                <a:solidFill>
                  <a:srgbClr val="647287"/>
                </a:solidFill>
              </a:rPr>
              <a:t>4,852 priced tickets. Percentages are ticket-count share within each price band, not claim amount share.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F112358-1B9E-4A26-9FC2-290E4F2CA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95450"/>
            <a:ext cx="5219700" cy="2038350"/>
          </a:xfrm>
          <a:prstGeom xmlns:a="http://schemas.openxmlformats.org/drawingml/2006/main" prst="roundRect">
            <a:avLst>
              <a:gd name="adj" fmla="val 56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4F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06975BA-5428-4167-88CC-66FE80028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4785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2033"/>
                </a:solidFill>
              </a:defRPr>
            </a:pPr>
            <a:r>
              <a:rPr sz="1650" b="1">
                <a:solidFill>
                  <a:srgbClr val="172033"/>
                </a:solidFill>
              </a:rPr>
              <a:t>$0-500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9C5F741-48BE-4AF5-A3F3-C75752CF8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05025"/>
            <a:ext cx="4876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47287"/>
                </a:solidFill>
              </a:defRPr>
            </a:pPr>
            <a:r>
              <a:rPr sz="975">
                <a:solidFill>
                  <a:srgbClr val="647287"/>
                </a:solidFill>
              </a:rPr>
              <a:t>2,809 tickets  /  avg 22.9 days</a:t>
            </a:r>
          </a:p>
        </p:txBody>
      </p:sp>
      <p:graphicFrame>
        <p:nvGraphicFramePr>
          <p:cNvPr id="126" name="Chart"/>
          <p:cNvGraphicFramePr/>
          <p:nvPr/>
        </p:nvGraphicFramePr>
        <p:xfrm>
          <a:off xmlns:a="http://schemas.openxmlformats.org/drawingml/2006/main" x="781050" y="2247900"/>
          <a:ext xmlns:a="http://schemas.openxmlformats.org/drawingml/2006/main" cx="1428750" cy="1428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69f3d3e4a82f4e80"/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33C2E8E-5530-4112-BC70-20B09EB8C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231457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8F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AD8ECA1-2543-400E-93A7-6F1B53DBC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2276475"/>
            <a:ext cx="8763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526176"/>
                </a:solidFill>
              </a:defRPr>
            </a:pPr>
            <a:r>
              <a:rPr sz="975">
                <a:solidFill>
                  <a:srgbClr val="526176"/>
                </a:solidFill>
              </a:rPr>
              <a:t>0-7 days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27D027E-D405-4AA9-A247-258CEA37C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276475"/>
            <a:ext cx="8953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1D2A3D"/>
                </a:solidFill>
              </a:defRPr>
            </a:pPr>
            <a:r>
              <a:rPr sz="975">
                <a:solidFill>
                  <a:srgbClr val="1D2A3D"/>
                </a:solidFill>
              </a:rPr>
              <a:t>1,229 tickets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AC92877-D53E-40D7-BFB3-BF7652157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2276475"/>
            <a:ext cx="5334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1D2A3D"/>
                </a:solidFill>
              </a:defRPr>
            </a:pPr>
            <a:r>
              <a:rPr sz="975">
                <a:solidFill>
                  <a:srgbClr val="1D2A3D"/>
                </a:solidFill>
              </a:rPr>
              <a:t>43.8%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7AD6238-14A3-4655-84A4-39EDF2A4C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250507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F8F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889DAF5-4789-4759-910E-DCFDD1423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2466975"/>
            <a:ext cx="8763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526176"/>
                </a:solidFill>
              </a:defRPr>
            </a:pPr>
            <a:r>
              <a:rPr sz="975">
                <a:solidFill>
                  <a:srgbClr val="526176"/>
                </a:solidFill>
              </a:rPr>
              <a:t>8-14 days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CAB0209-F1E8-45A5-99D5-A94610567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466975"/>
            <a:ext cx="8953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1D2A3D"/>
                </a:solidFill>
              </a:defRPr>
            </a:pPr>
            <a:r>
              <a:rPr sz="975">
                <a:solidFill>
                  <a:srgbClr val="1D2A3D"/>
                </a:solidFill>
              </a:rPr>
              <a:t>364 tickets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B18AC62-D5D8-4B67-B16D-F805E57F0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2466975"/>
            <a:ext cx="5334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1D2A3D"/>
                </a:solidFill>
              </a:defRPr>
            </a:pPr>
            <a:r>
              <a:rPr sz="975">
                <a:solidFill>
                  <a:srgbClr val="1D2A3D"/>
                </a:solidFill>
              </a:rPr>
              <a:t>13.0%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AF964C6-F777-47FA-B938-2DF810A9C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269557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74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6F8CA3D-BA4C-4935-9380-FBD8CD83D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2657475"/>
            <a:ext cx="8763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526176"/>
                </a:solidFill>
              </a:defRPr>
            </a:pPr>
            <a:r>
              <a:rPr sz="975">
                <a:solidFill>
                  <a:srgbClr val="526176"/>
                </a:solidFill>
              </a:rPr>
              <a:t>15-21 days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49DF5F2-277D-4DF8-BCB6-B1A365B9D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657475"/>
            <a:ext cx="8953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1D2A3D"/>
                </a:solidFill>
              </a:defRPr>
            </a:pPr>
            <a:r>
              <a:rPr sz="975">
                <a:solidFill>
                  <a:srgbClr val="1D2A3D"/>
                </a:solidFill>
              </a:rPr>
              <a:t>238 tickets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3F3BA50-BC15-4E5E-8391-BD6AFD061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2657475"/>
            <a:ext cx="5334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1D2A3D"/>
                </a:solidFill>
              </a:defRPr>
            </a:pPr>
            <a:r>
              <a:rPr sz="975">
                <a:solidFill>
                  <a:srgbClr val="1D2A3D"/>
                </a:solidFill>
              </a:rPr>
              <a:t>8.5%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B76CF6F-BEDC-48B7-9997-6BDA1C3BD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288607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8A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19DF63D-9043-4EBC-865F-C33BE1692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2847975"/>
            <a:ext cx="8763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526176"/>
                </a:solidFill>
              </a:defRPr>
            </a:pPr>
            <a:r>
              <a:rPr sz="975">
                <a:solidFill>
                  <a:srgbClr val="526176"/>
                </a:solidFill>
              </a:rPr>
              <a:t>22-30 days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BC67F3A-4450-4786-882F-89F29B481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847975"/>
            <a:ext cx="8953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1D2A3D"/>
                </a:solidFill>
              </a:defRPr>
            </a:pPr>
            <a:r>
              <a:rPr sz="975">
                <a:solidFill>
                  <a:srgbClr val="1D2A3D"/>
                </a:solidFill>
              </a:rPr>
              <a:t>219 tickets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E91F990-245E-4F70-B7BA-C01EA3FD8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2847975"/>
            <a:ext cx="5334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1D2A3D"/>
                </a:solidFill>
              </a:defRPr>
            </a:pPr>
            <a:r>
              <a:rPr sz="975">
                <a:solidFill>
                  <a:srgbClr val="1D2A3D"/>
                </a:solidFill>
              </a:rPr>
              <a:t>7.8%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F51BD98-5802-4A3F-9E71-260D59326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307657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F9F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4FADFA5-EAF5-46A6-AA39-8C1DD84FE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3038475"/>
            <a:ext cx="8763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526176"/>
                </a:solidFill>
              </a:defRPr>
            </a:pPr>
            <a:r>
              <a:rPr sz="975">
                <a:solidFill>
                  <a:srgbClr val="526176"/>
                </a:solidFill>
              </a:rPr>
              <a:t>31-60 days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2D108CE-E76E-4119-9463-72961DB7C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3038475"/>
            <a:ext cx="8953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1D2A3D"/>
                </a:solidFill>
              </a:defRPr>
            </a:pPr>
            <a:r>
              <a:rPr sz="975">
                <a:solidFill>
                  <a:srgbClr val="1D2A3D"/>
                </a:solidFill>
              </a:rPr>
              <a:t>429 tickets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D9C47B0-39FD-4970-869D-319605D73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3038475"/>
            <a:ext cx="5334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1D2A3D"/>
                </a:solidFill>
              </a:defRPr>
            </a:pPr>
            <a:r>
              <a:rPr sz="975">
                <a:solidFill>
                  <a:srgbClr val="1D2A3D"/>
                </a:solidFill>
              </a:rPr>
              <a:t>15.3%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BF056A6-0CE0-465F-8B7A-B3E8B7D97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326707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513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8C3EC63-F5E1-4E23-8C25-363E1D5B1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3228975"/>
            <a:ext cx="8763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526176"/>
                </a:solidFill>
              </a:defRPr>
            </a:pPr>
            <a:r>
              <a:rPr sz="975">
                <a:solidFill>
                  <a:srgbClr val="526176"/>
                </a:solidFill>
              </a:rPr>
              <a:t>60+ days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3E1DFE8-4A4E-4D8D-A936-197FC1583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3228975"/>
            <a:ext cx="8953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1D2A3D"/>
                </a:solidFill>
              </a:defRPr>
            </a:pPr>
            <a:r>
              <a:rPr sz="975">
                <a:solidFill>
                  <a:srgbClr val="1D2A3D"/>
                </a:solidFill>
              </a:rPr>
              <a:t>330 tickets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3E69DD3-3D21-4813-8062-69611D157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3228975"/>
            <a:ext cx="5334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1D2A3D"/>
                </a:solidFill>
              </a:defRPr>
            </a:pPr>
            <a:r>
              <a:rPr sz="975">
                <a:solidFill>
                  <a:srgbClr val="1D2A3D"/>
                </a:solidFill>
              </a:rPr>
              <a:t>11.7%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2614DE1-0A65-4409-9DA0-BE5D86DED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695450"/>
            <a:ext cx="5219700" cy="2038350"/>
          </a:xfrm>
          <a:prstGeom xmlns:a="http://schemas.openxmlformats.org/drawingml/2006/main" prst="roundRect">
            <a:avLst>
              <a:gd name="adj" fmla="val 56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4F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51C6A21-B069-43BE-A0A2-A002F2AE9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184785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2033"/>
                </a:solidFill>
              </a:defRPr>
            </a:pPr>
            <a:r>
              <a:rPr sz="1650" b="1">
                <a:solidFill>
                  <a:srgbClr val="172033"/>
                </a:solidFill>
              </a:rPr>
              <a:t>$500-2k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1F9A966-21EB-4FA3-87BA-024C2A6C5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105025"/>
            <a:ext cx="4876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47287"/>
                </a:solidFill>
              </a:defRPr>
            </a:pPr>
            <a:r>
              <a:rPr sz="975">
                <a:solidFill>
                  <a:srgbClr val="647287"/>
                </a:solidFill>
              </a:rPr>
              <a:t>1,814 tickets  /  avg 27.4 days</a:t>
            </a:r>
          </a:p>
        </p:txBody>
      </p:sp>
      <p:graphicFrame>
        <p:nvGraphicFramePr>
          <p:cNvPr id="154" name="Chart"/>
          <p:cNvGraphicFramePr/>
          <p:nvPr/>
        </p:nvGraphicFramePr>
        <p:xfrm>
          <a:off xmlns:a="http://schemas.openxmlformats.org/drawingml/2006/main" x="6534150" y="2247900"/>
          <a:ext xmlns:a="http://schemas.openxmlformats.org/drawingml/2006/main" cx="1428750" cy="1428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63e5aeefc3be4fbb"/>
          </a:graphicData>
        </a:graphic>
      </p:graphicFrame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AF49D44-BCCD-43FF-ACFD-0C9E4661A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31457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8F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0A36FB5-2A09-48D8-ACA1-AF5A6E5CF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276475"/>
            <a:ext cx="8763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526176"/>
                </a:solidFill>
              </a:defRPr>
            </a:pPr>
            <a:r>
              <a:rPr sz="975">
                <a:solidFill>
                  <a:srgbClr val="526176"/>
                </a:solidFill>
              </a:rPr>
              <a:t>0-7 days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CD62907-7004-4A9D-B4DB-F02E223D3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276475"/>
            <a:ext cx="8953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1D2A3D"/>
                </a:solidFill>
              </a:defRPr>
            </a:pPr>
            <a:r>
              <a:rPr sz="975">
                <a:solidFill>
                  <a:srgbClr val="1D2A3D"/>
                </a:solidFill>
              </a:rPr>
              <a:t>718 tickets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2250A17-B220-4479-83B3-AEBAE83F0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2276475"/>
            <a:ext cx="5334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1D2A3D"/>
                </a:solidFill>
              </a:defRPr>
            </a:pPr>
            <a:r>
              <a:rPr sz="975">
                <a:solidFill>
                  <a:srgbClr val="1D2A3D"/>
                </a:solidFill>
              </a:rPr>
              <a:t>39.6%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F239BE1-93CB-406E-822D-084EFA52B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50507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F8F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26408DAF-4574-47FF-A957-EC06137CD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466975"/>
            <a:ext cx="8763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526176"/>
                </a:solidFill>
              </a:defRPr>
            </a:pPr>
            <a:r>
              <a:rPr sz="975">
                <a:solidFill>
                  <a:srgbClr val="526176"/>
                </a:solidFill>
              </a:rPr>
              <a:t>8-14 days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C618C00B-CED3-40E8-9CA6-27224749A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466975"/>
            <a:ext cx="8953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1D2A3D"/>
                </a:solidFill>
              </a:defRPr>
            </a:pPr>
            <a:r>
              <a:rPr sz="975">
                <a:solidFill>
                  <a:srgbClr val="1D2A3D"/>
                </a:solidFill>
              </a:rPr>
              <a:t>238 tickets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127D54AF-9F86-4E65-BD58-C01A4A3E4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2466975"/>
            <a:ext cx="5334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1D2A3D"/>
                </a:solidFill>
              </a:defRPr>
            </a:pPr>
            <a:r>
              <a:rPr sz="975">
                <a:solidFill>
                  <a:srgbClr val="1D2A3D"/>
                </a:solidFill>
              </a:rPr>
              <a:t>13.1%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99CA8DE1-9A6A-4DE7-8043-C5D5DEC1A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69557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74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7E8B16D4-E611-4CBE-9238-8E37103DF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657475"/>
            <a:ext cx="8763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526176"/>
                </a:solidFill>
              </a:defRPr>
            </a:pPr>
            <a:r>
              <a:rPr sz="975">
                <a:solidFill>
                  <a:srgbClr val="526176"/>
                </a:solidFill>
              </a:rPr>
              <a:t>15-21 days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0F22883F-3F95-4871-9B82-74B10FBFA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657475"/>
            <a:ext cx="8953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1D2A3D"/>
                </a:solidFill>
              </a:defRPr>
            </a:pPr>
            <a:r>
              <a:rPr sz="975">
                <a:solidFill>
                  <a:srgbClr val="1D2A3D"/>
                </a:solidFill>
              </a:rPr>
              <a:t>150 tickets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5E2699E9-30D4-4ECF-B796-3B086121E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2657475"/>
            <a:ext cx="5334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1D2A3D"/>
                </a:solidFill>
              </a:defRPr>
            </a:pPr>
            <a:r>
              <a:rPr sz="975">
                <a:solidFill>
                  <a:srgbClr val="1D2A3D"/>
                </a:solidFill>
              </a:rPr>
              <a:t>8.3%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21788DFF-FDD1-4888-9118-09CF0C3E9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88607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8A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53AD0416-C2FE-45F8-AD66-684B7C6DB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847975"/>
            <a:ext cx="8763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526176"/>
                </a:solidFill>
              </a:defRPr>
            </a:pPr>
            <a:r>
              <a:rPr sz="975">
                <a:solidFill>
                  <a:srgbClr val="526176"/>
                </a:solidFill>
              </a:rPr>
              <a:t>22-30 days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F5A88002-36B9-421B-AE05-D10DF4847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847975"/>
            <a:ext cx="8953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1D2A3D"/>
                </a:solidFill>
              </a:defRPr>
            </a:pPr>
            <a:r>
              <a:rPr sz="975">
                <a:solidFill>
                  <a:srgbClr val="1D2A3D"/>
                </a:solidFill>
              </a:rPr>
              <a:t>143 tickets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0F0A0FDC-E874-4A56-BAD9-8E85AF647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2847975"/>
            <a:ext cx="5334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1D2A3D"/>
                </a:solidFill>
              </a:defRPr>
            </a:pPr>
            <a:r>
              <a:rPr sz="975">
                <a:solidFill>
                  <a:srgbClr val="1D2A3D"/>
                </a:solidFill>
              </a:rPr>
              <a:t>7.9%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A22C0F2F-76F5-40EE-89C4-89CBC5866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07657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F9F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A7A43081-0656-4576-961B-5D2ADA2D2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038475"/>
            <a:ext cx="8763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526176"/>
                </a:solidFill>
              </a:defRPr>
            </a:pPr>
            <a:r>
              <a:rPr sz="975">
                <a:solidFill>
                  <a:srgbClr val="526176"/>
                </a:solidFill>
              </a:rPr>
              <a:t>31-60 days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7F82885D-3F66-445B-868B-6121FEE61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3038475"/>
            <a:ext cx="8953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1D2A3D"/>
                </a:solidFill>
              </a:defRPr>
            </a:pPr>
            <a:r>
              <a:rPr sz="975">
                <a:solidFill>
                  <a:srgbClr val="1D2A3D"/>
                </a:solidFill>
              </a:rPr>
              <a:t>291 tickets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ECDF0758-3C11-4A3C-A010-B5BDF225D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3038475"/>
            <a:ext cx="5334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1D2A3D"/>
                </a:solidFill>
              </a:defRPr>
            </a:pPr>
            <a:r>
              <a:rPr sz="975">
                <a:solidFill>
                  <a:srgbClr val="1D2A3D"/>
                </a:solidFill>
              </a:rPr>
              <a:t>16.0%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A67F5DAD-CB34-47BB-8114-A566692DC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26707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513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D36F186B-188E-4BC7-A000-56884171A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228975"/>
            <a:ext cx="8763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526176"/>
                </a:solidFill>
              </a:defRPr>
            </a:pPr>
            <a:r>
              <a:rPr sz="975">
                <a:solidFill>
                  <a:srgbClr val="526176"/>
                </a:solidFill>
              </a:rPr>
              <a:t>60+ days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1D817217-C213-4304-9E88-96548716F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3228975"/>
            <a:ext cx="8953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1D2A3D"/>
                </a:solidFill>
              </a:defRPr>
            </a:pPr>
            <a:r>
              <a:rPr sz="975">
                <a:solidFill>
                  <a:srgbClr val="1D2A3D"/>
                </a:solidFill>
              </a:rPr>
              <a:t>274 tickets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E4A9C149-192F-4784-B4B0-8A2EE37CC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3228975"/>
            <a:ext cx="5334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1D2A3D"/>
                </a:solidFill>
              </a:defRPr>
            </a:pPr>
            <a:r>
              <a:rPr sz="975">
                <a:solidFill>
                  <a:srgbClr val="1D2A3D"/>
                </a:solidFill>
              </a:rPr>
              <a:t>15.1%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77ACBAB8-C231-483C-BF62-3D213EE18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57650"/>
            <a:ext cx="5219700" cy="2038350"/>
          </a:xfrm>
          <a:prstGeom xmlns:a="http://schemas.openxmlformats.org/drawingml/2006/main" prst="roundRect">
            <a:avLst>
              <a:gd name="adj" fmla="val 56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4F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E18A3AD8-F269-42ED-8586-8B47FB48E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21005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2033"/>
                </a:solidFill>
              </a:defRPr>
            </a:pPr>
            <a:r>
              <a:rPr sz="1650" b="1">
                <a:solidFill>
                  <a:srgbClr val="172033"/>
                </a:solidFill>
              </a:rPr>
              <a:t>$2k-5k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2C15D0AF-C464-4859-AEAC-6D1E7FA0F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467225"/>
            <a:ext cx="4876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47287"/>
                </a:solidFill>
              </a:defRPr>
            </a:pPr>
            <a:r>
              <a:rPr sz="975">
                <a:solidFill>
                  <a:srgbClr val="647287"/>
                </a:solidFill>
              </a:rPr>
              <a:t>209 tickets  /  avg 36.9 days</a:t>
            </a:r>
          </a:p>
        </p:txBody>
      </p:sp>
      <p:graphicFrame>
        <p:nvGraphicFramePr>
          <p:cNvPr id="182" name="Chart"/>
          <p:cNvGraphicFramePr/>
          <p:nvPr/>
        </p:nvGraphicFramePr>
        <p:xfrm>
          <a:off xmlns:a="http://schemas.openxmlformats.org/drawingml/2006/main" x="781050" y="4610100"/>
          <a:ext xmlns:a="http://schemas.openxmlformats.org/drawingml/2006/main" cx="1428750" cy="1428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569b90cbd8294e27"/>
          </a:graphicData>
        </a:graphic>
      </p:graphicFrame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74A89BD1-61C0-490F-BD2D-B27B69A38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467677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8F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0131C977-8D73-40DC-8D7E-6547F55C4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4638675"/>
            <a:ext cx="8763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526176"/>
                </a:solidFill>
              </a:defRPr>
            </a:pPr>
            <a:r>
              <a:rPr sz="975">
                <a:solidFill>
                  <a:srgbClr val="526176"/>
                </a:solidFill>
              </a:rPr>
              <a:t>0-7 days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E0F2693A-D86D-4676-B1B7-18C889810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4638675"/>
            <a:ext cx="8953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1D2A3D"/>
                </a:solidFill>
              </a:defRPr>
            </a:pPr>
            <a:r>
              <a:rPr sz="975">
                <a:solidFill>
                  <a:srgbClr val="1D2A3D"/>
                </a:solidFill>
              </a:rPr>
              <a:t>78 tickets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903852C8-A78E-4761-9AEB-E7A340B9D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4638675"/>
            <a:ext cx="5334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1D2A3D"/>
                </a:solidFill>
              </a:defRPr>
            </a:pPr>
            <a:r>
              <a:rPr sz="975">
                <a:solidFill>
                  <a:srgbClr val="1D2A3D"/>
                </a:solidFill>
              </a:rPr>
              <a:t>37.3%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2D8206AF-89A9-436E-9527-BA420E9C4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486727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F8F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4B6477B7-7384-46BD-9D32-DCD9668DE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4829175"/>
            <a:ext cx="8763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526176"/>
                </a:solidFill>
              </a:defRPr>
            </a:pPr>
            <a:r>
              <a:rPr sz="975">
                <a:solidFill>
                  <a:srgbClr val="526176"/>
                </a:solidFill>
              </a:rPr>
              <a:t>8-14 days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9DB98A68-92F1-4D67-9E63-045CBE58D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4829175"/>
            <a:ext cx="8953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1D2A3D"/>
                </a:solidFill>
              </a:defRPr>
            </a:pPr>
            <a:r>
              <a:rPr sz="975">
                <a:solidFill>
                  <a:srgbClr val="1D2A3D"/>
                </a:solidFill>
              </a:rPr>
              <a:t>22 tickets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E17BECD6-9962-4A0D-9598-28140177E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4829175"/>
            <a:ext cx="5334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1D2A3D"/>
                </a:solidFill>
              </a:defRPr>
            </a:pPr>
            <a:r>
              <a:rPr sz="975">
                <a:solidFill>
                  <a:srgbClr val="1D2A3D"/>
                </a:solidFill>
              </a:rPr>
              <a:t>10.5%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D9F745E7-03B5-43D1-A0E7-B2CBE326E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05777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74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AA796B78-DCB4-4583-98A6-97A8CB4EE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5019675"/>
            <a:ext cx="8763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526176"/>
                </a:solidFill>
              </a:defRPr>
            </a:pPr>
            <a:r>
              <a:rPr sz="975">
                <a:solidFill>
                  <a:srgbClr val="526176"/>
                </a:solidFill>
              </a:rPr>
              <a:t>15-21 days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8A5963FD-CCCF-4166-B665-B98A89B07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5019675"/>
            <a:ext cx="8953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1D2A3D"/>
                </a:solidFill>
              </a:defRPr>
            </a:pPr>
            <a:r>
              <a:rPr sz="975">
                <a:solidFill>
                  <a:srgbClr val="1D2A3D"/>
                </a:solidFill>
              </a:rPr>
              <a:t>9 tickets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129A4E5F-ED94-42ED-896C-91F528C8A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5019675"/>
            <a:ext cx="5334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1D2A3D"/>
                </a:solidFill>
              </a:defRPr>
            </a:pPr>
            <a:r>
              <a:rPr sz="975">
                <a:solidFill>
                  <a:srgbClr val="1D2A3D"/>
                </a:solidFill>
              </a:rPr>
              <a:t>4.3%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8BF84FC0-9B79-4A80-99ED-054F1985E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24827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8A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3E9D91E0-0404-4996-87D1-F7B0256C9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5210175"/>
            <a:ext cx="8763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526176"/>
                </a:solidFill>
              </a:defRPr>
            </a:pPr>
            <a:r>
              <a:rPr sz="975">
                <a:solidFill>
                  <a:srgbClr val="526176"/>
                </a:solidFill>
              </a:rPr>
              <a:t>22-30 days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B2402FD4-0471-44F8-8865-C3C9491C5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5210175"/>
            <a:ext cx="8953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1D2A3D"/>
                </a:solidFill>
              </a:defRPr>
            </a:pPr>
            <a:r>
              <a:rPr sz="975">
                <a:solidFill>
                  <a:srgbClr val="1D2A3D"/>
                </a:solidFill>
              </a:rPr>
              <a:t>13 tickets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1FFBD3E3-086D-4405-83EA-896DDB178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5210175"/>
            <a:ext cx="5334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1D2A3D"/>
                </a:solidFill>
              </a:defRPr>
            </a:pPr>
            <a:r>
              <a:rPr sz="975">
                <a:solidFill>
                  <a:srgbClr val="1D2A3D"/>
                </a:solidFill>
              </a:rPr>
              <a:t>6.2%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7626F44B-BECE-4B42-B3B6-D3F44F2BE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43877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F9F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509ABCE1-D850-4022-A49C-5147A2F7F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5400675"/>
            <a:ext cx="8763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526176"/>
                </a:solidFill>
              </a:defRPr>
            </a:pPr>
            <a:r>
              <a:rPr sz="975">
                <a:solidFill>
                  <a:srgbClr val="526176"/>
                </a:solidFill>
              </a:rPr>
              <a:t>31-60 days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0904575E-766D-424A-BA09-CFADA5C8D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5400675"/>
            <a:ext cx="8953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1D2A3D"/>
                </a:solidFill>
              </a:defRPr>
            </a:pPr>
            <a:r>
              <a:rPr sz="975">
                <a:solidFill>
                  <a:srgbClr val="1D2A3D"/>
                </a:solidFill>
              </a:rPr>
              <a:t>35 tickets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B5EFF2F6-0F35-4E22-A9D4-231F665DE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5400675"/>
            <a:ext cx="5334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1D2A3D"/>
                </a:solidFill>
              </a:defRPr>
            </a:pPr>
            <a:r>
              <a:rPr sz="975">
                <a:solidFill>
                  <a:srgbClr val="1D2A3D"/>
                </a:solidFill>
              </a:rPr>
              <a:t>16.7%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F3CB3A6D-3D7D-437B-B9C2-85D99514F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62927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513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7DF966F0-4854-4E18-A9B4-85A7F69E8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5591175"/>
            <a:ext cx="8763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526176"/>
                </a:solidFill>
              </a:defRPr>
            </a:pPr>
            <a:r>
              <a:rPr sz="975">
                <a:solidFill>
                  <a:srgbClr val="526176"/>
                </a:solidFill>
              </a:rPr>
              <a:t>60+ days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0D3A6E13-18E2-46AD-A42B-51E22214A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5591175"/>
            <a:ext cx="8953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1D2A3D"/>
                </a:solidFill>
              </a:defRPr>
            </a:pPr>
            <a:r>
              <a:rPr sz="975">
                <a:solidFill>
                  <a:srgbClr val="1D2A3D"/>
                </a:solidFill>
              </a:rPr>
              <a:t>52 tickets</a:t>
            </a:r>
          </a:p>
        </p:txBody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581E1BCD-EFBC-404A-B0AE-FDE62E63E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5591175"/>
            <a:ext cx="5334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1D2A3D"/>
                </a:solidFill>
              </a:defRPr>
            </a:pPr>
            <a:r>
              <a:rPr sz="975">
                <a:solidFill>
                  <a:srgbClr val="1D2A3D"/>
                </a:solidFill>
              </a:rPr>
              <a:t>24.9%</a:t>
            </a:r>
          </a:p>
        </p:txBody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9AE9C698-E895-41E9-A95F-5523AC106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057650"/>
            <a:ext cx="5219700" cy="2038350"/>
          </a:xfrm>
          <a:prstGeom xmlns:a="http://schemas.openxmlformats.org/drawingml/2006/main" prst="roundRect">
            <a:avLst>
              <a:gd name="adj" fmla="val 56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4F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161512D6-45D5-4309-9D23-AE4A173C1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421005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2033"/>
                </a:solidFill>
              </a:defRPr>
            </a:pPr>
            <a:r>
              <a:rPr sz="1650" b="1">
                <a:solidFill>
                  <a:srgbClr val="172033"/>
                </a:solidFill>
              </a:rPr>
              <a:t>$5k+</a:t>
            </a:r>
          </a:p>
        </p:txBody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E8ED82AC-84FB-4E7C-95D0-C1B67D064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4467225"/>
            <a:ext cx="4876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47287"/>
                </a:solidFill>
              </a:defRPr>
            </a:pPr>
            <a:r>
              <a:rPr sz="975">
                <a:solidFill>
                  <a:srgbClr val="647287"/>
                </a:solidFill>
              </a:rPr>
              <a:t>20 tickets  /  avg 69.5 days</a:t>
            </a:r>
          </a:p>
        </p:txBody>
      </p:sp>
      <p:graphicFrame>
        <p:nvGraphicFramePr>
          <p:cNvPr id="210" name="Chart"/>
          <p:cNvGraphicFramePr/>
          <p:nvPr/>
        </p:nvGraphicFramePr>
        <p:xfrm>
          <a:off xmlns:a="http://schemas.openxmlformats.org/drawingml/2006/main" x="6534150" y="4610100"/>
          <a:ext xmlns:a="http://schemas.openxmlformats.org/drawingml/2006/main" cx="1428750" cy="1428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25e2dcfdc379449a"/>
          </a:graphicData>
        </a:graphic>
      </p:graphicFrame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B23F84A5-3C5A-4A6B-B13E-427C3566C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67677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8F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161F5E20-8B3B-4A71-95A1-9BA182AA3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638675"/>
            <a:ext cx="8763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526176"/>
                </a:solidFill>
              </a:defRPr>
            </a:pPr>
            <a:r>
              <a:rPr sz="975">
                <a:solidFill>
                  <a:srgbClr val="526176"/>
                </a:solidFill>
              </a:rPr>
              <a:t>0-7 days</a:t>
            </a:r>
          </a:p>
        </p:txBody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8376CDE7-E95C-4049-B174-7DEF0FE99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4638675"/>
            <a:ext cx="8953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1D2A3D"/>
                </a:solidFill>
              </a:defRPr>
            </a:pPr>
            <a:r>
              <a:rPr sz="975">
                <a:solidFill>
                  <a:srgbClr val="1D2A3D"/>
                </a:solidFill>
              </a:rPr>
              <a:t>3 tickets</a:t>
            </a: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F7F2C86D-EB09-4857-BB96-6883C7215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4638675"/>
            <a:ext cx="5334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1D2A3D"/>
                </a:solidFill>
              </a:defRPr>
            </a:pPr>
            <a:r>
              <a:rPr sz="975">
                <a:solidFill>
                  <a:srgbClr val="1D2A3D"/>
                </a:solidFill>
              </a:rPr>
              <a:t>15.0%</a:t>
            </a:r>
          </a:p>
        </p:txBody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2D75384B-AA28-485E-91EA-111BDE63F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86727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F8F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C1BF868D-5BF5-4570-BE4D-4A5425739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829175"/>
            <a:ext cx="8763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526176"/>
                </a:solidFill>
              </a:defRPr>
            </a:pPr>
            <a:r>
              <a:rPr sz="975">
                <a:solidFill>
                  <a:srgbClr val="526176"/>
                </a:solidFill>
              </a:rPr>
              <a:t>8-14 days</a:t>
            </a:r>
          </a:p>
        </p:txBody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92D5ABE6-A583-470A-89C8-61670016D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4829175"/>
            <a:ext cx="8953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1D2A3D"/>
                </a:solidFill>
              </a:defRPr>
            </a:pPr>
            <a:r>
              <a:rPr sz="975">
                <a:solidFill>
                  <a:srgbClr val="1D2A3D"/>
                </a:solidFill>
              </a:rPr>
              <a:t>2 tickets</a:t>
            </a:r>
          </a:p>
        </p:txBody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67E380E1-856E-4D91-BD52-C000DDB14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4829175"/>
            <a:ext cx="5334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1D2A3D"/>
                </a:solidFill>
              </a:defRPr>
            </a:pPr>
            <a:r>
              <a:rPr sz="975">
                <a:solidFill>
                  <a:srgbClr val="1D2A3D"/>
                </a:solidFill>
              </a:rPr>
              <a:t>10.0%</a:t>
            </a:r>
          </a:p>
        </p:txBody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E9918FE9-45F4-49D9-89A4-E2263DF1A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505777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74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2327192E-CE28-4888-996D-602D538FD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5019675"/>
            <a:ext cx="8763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526176"/>
                </a:solidFill>
              </a:defRPr>
            </a:pPr>
            <a:r>
              <a:rPr sz="975">
                <a:solidFill>
                  <a:srgbClr val="526176"/>
                </a:solidFill>
              </a:rPr>
              <a:t>15-21 days</a:t>
            </a:r>
          </a:p>
        </p:txBody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7AB27E19-4F22-4906-9873-92C528572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5019675"/>
            <a:ext cx="8953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1D2A3D"/>
                </a:solidFill>
              </a:defRPr>
            </a:pPr>
            <a:r>
              <a:rPr sz="975">
                <a:solidFill>
                  <a:srgbClr val="1D2A3D"/>
                </a:solidFill>
              </a:rPr>
              <a:t>2 tickets</a:t>
            </a:r>
          </a:p>
        </p:txBody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6C3D7F8F-4247-402F-9FE7-DB261AA4A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5019675"/>
            <a:ext cx="5334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1D2A3D"/>
                </a:solidFill>
              </a:defRPr>
            </a:pPr>
            <a:r>
              <a:rPr sz="975">
                <a:solidFill>
                  <a:srgbClr val="1D2A3D"/>
                </a:solidFill>
              </a:rPr>
              <a:t>10.0%</a:t>
            </a:r>
          </a:p>
        </p:txBody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FADF8B61-1533-4658-AB03-D96AE69C3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524827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8A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984A946E-556D-4B18-9C58-3DB851E5D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5210175"/>
            <a:ext cx="8763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526176"/>
                </a:solidFill>
              </a:defRPr>
            </a:pPr>
            <a:r>
              <a:rPr sz="975">
                <a:solidFill>
                  <a:srgbClr val="526176"/>
                </a:solidFill>
              </a:rPr>
              <a:t>22-30 days</a:t>
            </a:r>
          </a:p>
        </p:txBody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3B9E05CD-B418-42B0-8F5C-C4E1BD239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5210175"/>
            <a:ext cx="8953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1D2A3D"/>
                </a:solidFill>
              </a:defRPr>
            </a:pPr>
            <a:r>
              <a:rPr sz="975">
                <a:solidFill>
                  <a:srgbClr val="1D2A3D"/>
                </a:solidFill>
              </a:rPr>
              <a:t>0 tickets</a:t>
            </a:r>
          </a:p>
        </p:txBody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716C981D-3B9E-412B-B776-F097934DE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5210175"/>
            <a:ext cx="5334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1D2A3D"/>
                </a:solidFill>
              </a:defRPr>
            </a:pPr>
            <a:r>
              <a:rPr sz="975">
                <a:solidFill>
                  <a:srgbClr val="1D2A3D"/>
                </a:solidFill>
              </a:rPr>
              <a:t>0.0%</a:t>
            </a:r>
          </a:p>
        </p:txBody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AC7EE6F6-C949-42A9-8C28-80326F431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543877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F9F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6F29CB19-FD53-4A4F-8CE7-79EF53568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5400675"/>
            <a:ext cx="8763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526176"/>
                </a:solidFill>
              </a:defRPr>
            </a:pPr>
            <a:r>
              <a:rPr sz="975">
                <a:solidFill>
                  <a:srgbClr val="526176"/>
                </a:solidFill>
              </a:rPr>
              <a:t>31-60 days</a:t>
            </a:r>
          </a:p>
        </p:txBody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02C926B4-DC6C-438D-811B-51B25E5E4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5400675"/>
            <a:ext cx="8953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1D2A3D"/>
                </a:solidFill>
              </a:defRPr>
            </a:pPr>
            <a:r>
              <a:rPr sz="975">
                <a:solidFill>
                  <a:srgbClr val="1D2A3D"/>
                </a:solidFill>
              </a:rPr>
              <a:t>2 tickets</a:t>
            </a:r>
          </a:p>
        </p:txBody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1266AEFC-6351-49D5-BBC9-4659CCF93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5400675"/>
            <a:ext cx="5334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1D2A3D"/>
                </a:solidFill>
              </a:defRPr>
            </a:pPr>
            <a:r>
              <a:rPr sz="975">
                <a:solidFill>
                  <a:srgbClr val="1D2A3D"/>
                </a:solidFill>
              </a:rPr>
              <a:t>10.0%</a:t>
            </a:r>
          </a:p>
        </p:txBody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9515E8C5-BB3C-498D-867F-DBC0CDC9E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562927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513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011C2E58-B062-4F8E-9838-37C3FF145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5591175"/>
            <a:ext cx="8763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526176"/>
                </a:solidFill>
              </a:defRPr>
            </a:pPr>
            <a:r>
              <a:rPr sz="975">
                <a:solidFill>
                  <a:srgbClr val="526176"/>
                </a:solidFill>
              </a:rPr>
              <a:t>60+ days</a:t>
            </a:r>
          </a:p>
        </p:txBody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BEF60224-99DA-4BA4-9D35-616B2662E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5591175"/>
            <a:ext cx="8953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1D2A3D"/>
                </a:solidFill>
              </a:defRPr>
            </a:pPr>
            <a:r>
              <a:rPr sz="975">
                <a:solidFill>
                  <a:srgbClr val="1D2A3D"/>
                </a:solidFill>
              </a:rPr>
              <a:t>11 tickets</a:t>
            </a:r>
          </a:p>
        </p:txBody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0EB73E31-1C77-4ABB-82D4-276254DA1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5591175"/>
            <a:ext cx="5334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1D2A3D"/>
                </a:solidFill>
              </a:defRPr>
            </a:pPr>
            <a:r>
              <a:rPr sz="975">
                <a:solidFill>
                  <a:srgbClr val="1D2A3D"/>
                </a:solidFill>
              </a:rPr>
              <a:t>55.0%</a:t>
            </a:r>
          </a:p>
        </p:txBody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356C7925-AC93-412E-B706-42EBDBBDF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00050"/>
            <a:ext cx="2628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>
                <a:solidFill>
                  <a:srgbClr val="0D6D6B"/>
                </a:solidFill>
              </a:defRPr>
            </a:pPr>
            <a:r>
              <a:rPr sz="1125">
                <a:solidFill>
                  <a:srgbClr val="0D6D6B"/>
                </a:solidFill>
              </a:rPr>
              <a:t>Approval speed by claim value band</a:t>
            </a:r>
          </a:p>
        </p:txBody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AB891A97-25A5-4596-882E-DC7D0F7A2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4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4B69343F-54CD-4485-8A91-1298E5324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7A8796"/>
                </a:solidFill>
              </a:defRPr>
            </a:pPr>
            <a:r>
              <a:rPr sz="825">
                <a:solidFill>
                  <a:srgbClr val="7A8796"/>
                </a:solidFill>
              </a:rPr>
              <a:t>Generated from ticket_timeline_summary.json</a:t>
            </a:r>
          </a:p>
        </p:txBody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5D42A98B-ADF4-4D41-9B30-2A95F8998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389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>
                <a:solidFill>
                  <a:srgbClr val="7A8796"/>
                </a:solidFill>
              </a:defRPr>
            </a:pPr>
            <a:r>
              <a:rPr sz="825">
                <a:solidFill>
                  <a:srgbClr val="7A8796"/>
                </a:solidFill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51150228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65D56762-30AB-4BB0-89ED-51575C58A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266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0F8F8C"/>
                </a:solidFill>
              </a:defRPr>
            </a:pPr>
            <a:r>
              <a:rPr sz="900" b="1">
                <a:solidFill>
                  <a:srgbClr val="0F8F8C"/>
                </a:solidFill>
              </a:rPr>
              <a:t>2026 TICKET TIMELINE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5EFDF20-7B3F-4E5A-ADD6-4E5575F9A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8191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72033"/>
                </a:solidFill>
              </a:defRPr>
            </a:pPr>
            <a:r>
              <a:rPr sz="2700" b="1">
                <a:solidFill>
                  <a:srgbClr val="172033"/>
                </a:solidFill>
              </a:rPr>
              <a:t>Parts Preparation: duration mix by ticket value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9ABB387-2D63-4A8A-90E8-5E08F9825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43000"/>
            <a:ext cx="723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647287"/>
                </a:solidFill>
              </a:defRPr>
            </a:pPr>
            <a:r>
              <a:rPr sz="1200">
                <a:solidFill>
                  <a:srgbClr val="647287"/>
                </a:solidFill>
              </a:rPr>
              <a:t>3,179 priced tickets. Percentages are ticket-count share within each price band, not claim amount share.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17CE32A-72BA-4278-A7BB-C5EF5E6DF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95450"/>
            <a:ext cx="5219700" cy="2038350"/>
          </a:xfrm>
          <a:prstGeom xmlns:a="http://schemas.openxmlformats.org/drawingml/2006/main" prst="roundRect">
            <a:avLst>
              <a:gd name="adj" fmla="val 56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4F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6217E1C-903C-4C13-B9C2-049B2BF06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4785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2033"/>
                </a:solidFill>
              </a:defRPr>
            </a:pPr>
            <a:r>
              <a:rPr sz="1650" b="1">
                <a:solidFill>
                  <a:srgbClr val="172033"/>
                </a:solidFill>
              </a:rPr>
              <a:t>$0-500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D585B1C-87BA-4E68-9908-313CA749C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05025"/>
            <a:ext cx="4876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47287"/>
                </a:solidFill>
              </a:defRPr>
            </a:pPr>
            <a:r>
              <a:rPr sz="975">
                <a:solidFill>
                  <a:srgbClr val="647287"/>
                </a:solidFill>
              </a:rPr>
              <a:t>1,767 tickets  /  avg 18.0 days</a:t>
            </a:r>
          </a:p>
        </p:txBody>
      </p:sp>
      <p:graphicFrame>
        <p:nvGraphicFramePr>
          <p:cNvPr id="126" name="Chart"/>
          <p:cNvGraphicFramePr/>
          <p:nvPr/>
        </p:nvGraphicFramePr>
        <p:xfrm>
          <a:off xmlns:a="http://schemas.openxmlformats.org/drawingml/2006/main" x="781050" y="2247900"/>
          <a:ext xmlns:a="http://schemas.openxmlformats.org/drawingml/2006/main" cx="1428750" cy="1428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9b7785e62fb541d0"/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314C164-2EE4-4EB1-9CE9-D96B677D1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231457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8F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78D3707-0ED8-4AC2-90BC-29E1C4B50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2276475"/>
            <a:ext cx="8763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526176"/>
                </a:solidFill>
              </a:defRPr>
            </a:pPr>
            <a:r>
              <a:rPr sz="975">
                <a:solidFill>
                  <a:srgbClr val="526176"/>
                </a:solidFill>
              </a:rPr>
              <a:t>0-7 days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7CE363C-9558-43C9-8853-6C1F2E9A7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276475"/>
            <a:ext cx="8953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1D2A3D"/>
                </a:solidFill>
              </a:defRPr>
            </a:pPr>
            <a:r>
              <a:rPr sz="975">
                <a:solidFill>
                  <a:srgbClr val="1D2A3D"/>
                </a:solidFill>
              </a:rPr>
              <a:t>457 tickets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D2B8C87-9710-4B7F-9512-8286A7BC1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2276475"/>
            <a:ext cx="5334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1D2A3D"/>
                </a:solidFill>
              </a:defRPr>
            </a:pPr>
            <a:r>
              <a:rPr sz="975">
                <a:solidFill>
                  <a:srgbClr val="1D2A3D"/>
                </a:solidFill>
              </a:rPr>
              <a:t>25.9%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A50B174-E0CB-4ADC-9356-795D02BA0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250507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F8F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6CCF0DE-4694-4401-AFE5-A47213C88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2466975"/>
            <a:ext cx="8763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526176"/>
                </a:solidFill>
              </a:defRPr>
            </a:pPr>
            <a:r>
              <a:rPr sz="975">
                <a:solidFill>
                  <a:srgbClr val="526176"/>
                </a:solidFill>
              </a:rPr>
              <a:t>8-14 days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5A78503-3160-4527-9D41-FEED7B6E9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466975"/>
            <a:ext cx="8953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1D2A3D"/>
                </a:solidFill>
              </a:defRPr>
            </a:pPr>
            <a:r>
              <a:rPr sz="975">
                <a:solidFill>
                  <a:srgbClr val="1D2A3D"/>
                </a:solidFill>
              </a:rPr>
              <a:t>608 tickets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C14E069-A818-4484-9E6D-5B2193284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2466975"/>
            <a:ext cx="5334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1D2A3D"/>
                </a:solidFill>
              </a:defRPr>
            </a:pPr>
            <a:r>
              <a:rPr sz="975">
                <a:solidFill>
                  <a:srgbClr val="1D2A3D"/>
                </a:solidFill>
              </a:rPr>
              <a:t>34.4%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26C84D0-5336-4FD1-A36B-5E3847889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269557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74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5005EB0-FD9D-4066-B5A4-A68410394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2657475"/>
            <a:ext cx="8763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526176"/>
                </a:solidFill>
              </a:defRPr>
            </a:pPr>
            <a:r>
              <a:rPr sz="975">
                <a:solidFill>
                  <a:srgbClr val="526176"/>
                </a:solidFill>
              </a:rPr>
              <a:t>15-21 days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520F250-9150-45E5-8C1D-61EACF4EE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657475"/>
            <a:ext cx="8953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1D2A3D"/>
                </a:solidFill>
              </a:defRPr>
            </a:pPr>
            <a:r>
              <a:rPr sz="975">
                <a:solidFill>
                  <a:srgbClr val="1D2A3D"/>
                </a:solidFill>
              </a:rPr>
              <a:t>283 tickets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3DCF6A1-4877-4CD1-B711-4CE7B20BA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2657475"/>
            <a:ext cx="5334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1D2A3D"/>
                </a:solidFill>
              </a:defRPr>
            </a:pPr>
            <a:r>
              <a:rPr sz="975">
                <a:solidFill>
                  <a:srgbClr val="1D2A3D"/>
                </a:solidFill>
              </a:rPr>
              <a:t>16.0%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ABF8033-6348-402C-BD2C-6A0AC9709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288607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8A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1EC807F-892F-4B48-93B3-F553EE644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2847975"/>
            <a:ext cx="8763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526176"/>
                </a:solidFill>
              </a:defRPr>
            </a:pPr>
            <a:r>
              <a:rPr sz="975">
                <a:solidFill>
                  <a:srgbClr val="526176"/>
                </a:solidFill>
              </a:rPr>
              <a:t>22-30 days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227719F-4B6D-405B-8026-19FD9A5A3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847975"/>
            <a:ext cx="8953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1D2A3D"/>
                </a:solidFill>
              </a:defRPr>
            </a:pPr>
            <a:r>
              <a:rPr sz="975">
                <a:solidFill>
                  <a:srgbClr val="1D2A3D"/>
                </a:solidFill>
              </a:rPr>
              <a:t>140 tickets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844BD4E-D10E-470D-9D38-12A9FADA2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2847975"/>
            <a:ext cx="5334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1D2A3D"/>
                </a:solidFill>
              </a:defRPr>
            </a:pPr>
            <a:r>
              <a:rPr sz="975">
                <a:solidFill>
                  <a:srgbClr val="1D2A3D"/>
                </a:solidFill>
              </a:rPr>
              <a:t>7.9%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F02919E-9AB9-42F0-BC07-7FF0EDFDD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307657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F9F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27CCF22-EDEC-4817-9B9E-F478F657D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3038475"/>
            <a:ext cx="8763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526176"/>
                </a:solidFill>
              </a:defRPr>
            </a:pPr>
            <a:r>
              <a:rPr sz="975">
                <a:solidFill>
                  <a:srgbClr val="526176"/>
                </a:solidFill>
              </a:rPr>
              <a:t>31-60 days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B9B4312-ECCA-48A2-A90B-32150967A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3038475"/>
            <a:ext cx="8953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1D2A3D"/>
                </a:solidFill>
              </a:defRPr>
            </a:pPr>
            <a:r>
              <a:rPr sz="975">
                <a:solidFill>
                  <a:srgbClr val="1D2A3D"/>
                </a:solidFill>
              </a:rPr>
              <a:t>209 tickets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D398EBA-3179-4E48-AAE9-82BEC7A7A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3038475"/>
            <a:ext cx="5334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1D2A3D"/>
                </a:solidFill>
              </a:defRPr>
            </a:pPr>
            <a:r>
              <a:rPr sz="975">
                <a:solidFill>
                  <a:srgbClr val="1D2A3D"/>
                </a:solidFill>
              </a:rPr>
              <a:t>11.8%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5D90C8B-1131-404C-8E30-082E1C0A6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326707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513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A2E0BE4-BF9D-4F7E-B278-31366A6F8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3228975"/>
            <a:ext cx="8763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526176"/>
                </a:solidFill>
              </a:defRPr>
            </a:pPr>
            <a:r>
              <a:rPr sz="975">
                <a:solidFill>
                  <a:srgbClr val="526176"/>
                </a:solidFill>
              </a:rPr>
              <a:t>60+ days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1CD3AEE-C830-428F-AD58-4475A2228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3228975"/>
            <a:ext cx="8953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1D2A3D"/>
                </a:solidFill>
              </a:defRPr>
            </a:pPr>
            <a:r>
              <a:rPr sz="975">
                <a:solidFill>
                  <a:srgbClr val="1D2A3D"/>
                </a:solidFill>
              </a:rPr>
              <a:t>70 tickets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49FE681-C847-41A0-AB96-947103B1A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3228975"/>
            <a:ext cx="5334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1D2A3D"/>
                </a:solidFill>
              </a:defRPr>
            </a:pPr>
            <a:r>
              <a:rPr sz="975">
                <a:solidFill>
                  <a:srgbClr val="1D2A3D"/>
                </a:solidFill>
              </a:rPr>
              <a:t>4.0%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C9620A8-44B3-429D-86B9-BAC684117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695450"/>
            <a:ext cx="5219700" cy="2038350"/>
          </a:xfrm>
          <a:prstGeom xmlns:a="http://schemas.openxmlformats.org/drawingml/2006/main" prst="roundRect">
            <a:avLst>
              <a:gd name="adj" fmla="val 56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4F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D01C450-1132-41CC-86FB-F8E9D0D05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184785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2033"/>
                </a:solidFill>
              </a:defRPr>
            </a:pPr>
            <a:r>
              <a:rPr sz="1650" b="1">
                <a:solidFill>
                  <a:srgbClr val="172033"/>
                </a:solidFill>
              </a:rPr>
              <a:t>$500-2k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EA2BE77-9907-49B3-9F0F-AD6502E29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105025"/>
            <a:ext cx="4876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47287"/>
                </a:solidFill>
              </a:defRPr>
            </a:pPr>
            <a:r>
              <a:rPr sz="975">
                <a:solidFill>
                  <a:srgbClr val="647287"/>
                </a:solidFill>
              </a:rPr>
              <a:t>1,319 tickets  /  avg 24.6 days</a:t>
            </a:r>
          </a:p>
        </p:txBody>
      </p:sp>
      <p:graphicFrame>
        <p:nvGraphicFramePr>
          <p:cNvPr id="154" name="Chart"/>
          <p:cNvGraphicFramePr/>
          <p:nvPr/>
        </p:nvGraphicFramePr>
        <p:xfrm>
          <a:off xmlns:a="http://schemas.openxmlformats.org/drawingml/2006/main" x="6534150" y="2247900"/>
          <a:ext xmlns:a="http://schemas.openxmlformats.org/drawingml/2006/main" cx="1428750" cy="1428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760f9e019f304246"/>
          </a:graphicData>
        </a:graphic>
      </p:graphicFrame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0332A18-9A32-4781-992A-3E32FF38D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31457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8F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503EC91-3A48-4645-B2BC-D603270D9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276475"/>
            <a:ext cx="8763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526176"/>
                </a:solidFill>
              </a:defRPr>
            </a:pPr>
            <a:r>
              <a:rPr sz="975">
                <a:solidFill>
                  <a:srgbClr val="526176"/>
                </a:solidFill>
              </a:rPr>
              <a:t>0-7 days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C3A8B27-D43F-4EA6-85E9-073315EC4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276475"/>
            <a:ext cx="8953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1D2A3D"/>
                </a:solidFill>
              </a:defRPr>
            </a:pPr>
            <a:r>
              <a:rPr sz="975">
                <a:solidFill>
                  <a:srgbClr val="1D2A3D"/>
                </a:solidFill>
              </a:rPr>
              <a:t>207 tickets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6640566-76DD-4420-B08A-DE073B788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2276475"/>
            <a:ext cx="5334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1D2A3D"/>
                </a:solidFill>
              </a:defRPr>
            </a:pPr>
            <a:r>
              <a:rPr sz="975">
                <a:solidFill>
                  <a:srgbClr val="1D2A3D"/>
                </a:solidFill>
              </a:rPr>
              <a:t>15.7%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F596C221-205F-4B7C-AA55-3C4B4D77B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50507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F8F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0396120D-7458-4F29-A2D3-7C2D3AD97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466975"/>
            <a:ext cx="8763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526176"/>
                </a:solidFill>
              </a:defRPr>
            </a:pPr>
            <a:r>
              <a:rPr sz="975">
                <a:solidFill>
                  <a:srgbClr val="526176"/>
                </a:solidFill>
              </a:rPr>
              <a:t>8-14 days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4826EADF-BABA-4CA9-8FDD-ACC5E062F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466975"/>
            <a:ext cx="8953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1D2A3D"/>
                </a:solidFill>
              </a:defRPr>
            </a:pPr>
            <a:r>
              <a:rPr sz="975">
                <a:solidFill>
                  <a:srgbClr val="1D2A3D"/>
                </a:solidFill>
              </a:rPr>
              <a:t>352 tickets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5205B25A-2589-443C-A2DB-E228FBADF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2466975"/>
            <a:ext cx="5334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1D2A3D"/>
                </a:solidFill>
              </a:defRPr>
            </a:pPr>
            <a:r>
              <a:rPr sz="975">
                <a:solidFill>
                  <a:srgbClr val="1D2A3D"/>
                </a:solidFill>
              </a:rPr>
              <a:t>26.7%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0C4EAAD6-C150-4FAA-B00C-A7DDC3344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69557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74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67281A2C-E027-4044-9955-1ADC7013F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657475"/>
            <a:ext cx="8763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526176"/>
                </a:solidFill>
              </a:defRPr>
            </a:pPr>
            <a:r>
              <a:rPr sz="975">
                <a:solidFill>
                  <a:srgbClr val="526176"/>
                </a:solidFill>
              </a:rPr>
              <a:t>15-21 days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DB9A1DC1-8F7E-4471-8CCD-89F7979AE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657475"/>
            <a:ext cx="8953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1D2A3D"/>
                </a:solidFill>
              </a:defRPr>
            </a:pPr>
            <a:r>
              <a:rPr sz="975">
                <a:solidFill>
                  <a:srgbClr val="1D2A3D"/>
                </a:solidFill>
              </a:rPr>
              <a:t>216 tickets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B9197D5D-BE2D-4F7D-8E0B-70A210FB0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2657475"/>
            <a:ext cx="5334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1D2A3D"/>
                </a:solidFill>
              </a:defRPr>
            </a:pPr>
            <a:r>
              <a:rPr sz="975">
                <a:solidFill>
                  <a:srgbClr val="1D2A3D"/>
                </a:solidFill>
              </a:rPr>
              <a:t>16.4%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383996DB-7648-4757-B0E6-F310020B5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88607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8A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270A6039-0F69-40FB-A3E9-4BE03F8CE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847975"/>
            <a:ext cx="8763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526176"/>
                </a:solidFill>
              </a:defRPr>
            </a:pPr>
            <a:r>
              <a:rPr sz="975">
                <a:solidFill>
                  <a:srgbClr val="526176"/>
                </a:solidFill>
              </a:rPr>
              <a:t>22-30 days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B0FD363E-76C0-4FAE-85F0-4CFBFE5BF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847975"/>
            <a:ext cx="8953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1D2A3D"/>
                </a:solidFill>
              </a:defRPr>
            </a:pPr>
            <a:r>
              <a:rPr sz="975">
                <a:solidFill>
                  <a:srgbClr val="1D2A3D"/>
                </a:solidFill>
              </a:rPr>
              <a:t>164 tickets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7D6B91F6-1BE3-4D26-880A-FC7779383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2847975"/>
            <a:ext cx="5334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1D2A3D"/>
                </a:solidFill>
              </a:defRPr>
            </a:pPr>
            <a:r>
              <a:rPr sz="975">
                <a:solidFill>
                  <a:srgbClr val="1D2A3D"/>
                </a:solidFill>
              </a:rPr>
              <a:t>12.4%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D7662B35-CD74-4D01-BF8B-8985EC39F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07657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F9F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4E48ABAF-FDEF-42E3-9848-5907876AD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038475"/>
            <a:ext cx="8763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526176"/>
                </a:solidFill>
              </a:defRPr>
            </a:pPr>
            <a:r>
              <a:rPr sz="975">
                <a:solidFill>
                  <a:srgbClr val="526176"/>
                </a:solidFill>
              </a:rPr>
              <a:t>31-60 days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3BD98025-2E46-4754-BC0C-9B6EDBEB3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3038475"/>
            <a:ext cx="8953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1D2A3D"/>
                </a:solidFill>
              </a:defRPr>
            </a:pPr>
            <a:r>
              <a:rPr sz="975">
                <a:solidFill>
                  <a:srgbClr val="1D2A3D"/>
                </a:solidFill>
              </a:rPr>
              <a:t>273 tickets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DADD9B59-3CF0-4949-A9C8-0D0CC0380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3038475"/>
            <a:ext cx="5334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1D2A3D"/>
                </a:solidFill>
              </a:defRPr>
            </a:pPr>
            <a:r>
              <a:rPr sz="975">
                <a:solidFill>
                  <a:srgbClr val="1D2A3D"/>
                </a:solidFill>
              </a:rPr>
              <a:t>20.7%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FA3F9A20-110D-40E9-8AEC-704341346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26707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513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DC09E156-7B66-4712-A331-015D1D335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228975"/>
            <a:ext cx="8763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526176"/>
                </a:solidFill>
              </a:defRPr>
            </a:pPr>
            <a:r>
              <a:rPr sz="975">
                <a:solidFill>
                  <a:srgbClr val="526176"/>
                </a:solidFill>
              </a:rPr>
              <a:t>60+ days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4966216B-31B0-46CA-9CCD-96D2C882D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3228975"/>
            <a:ext cx="8953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1D2A3D"/>
                </a:solidFill>
              </a:defRPr>
            </a:pPr>
            <a:r>
              <a:rPr sz="975">
                <a:solidFill>
                  <a:srgbClr val="1D2A3D"/>
                </a:solidFill>
              </a:rPr>
              <a:t>107 tickets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FAC3EF85-E0B5-4ED8-B241-D7E72D343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3228975"/>
            <a:ext cx="5334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1D2A3D"/>
                </a:solidFill>
              </a:defRPr>
            </a:pPr>
            <a:r>
              <a:rPr sz="975">
                <a:solidFill>
                  <a:srgbClr val="1D2A3D"/>
                </a:solidFill>
              </a:rPr>
              <a:t>8.1%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682706E9-D860-4087-AB4E-07C200258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57650"/>
            <a:ext cx="5219700" cy="2038350"/>
          </a:xfrm>
          <a:prstGeom xmlns:a="http://schemas.openxmlformats.org/drawingml/2006/main" prst="roundRect">
            <a:avLst>
              <a:gd name="adj" fmla="val 56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4F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15E695A6-BB8E-453A-BBC0-F0EA8CC8B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21005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2033"/>
                </a:solidFill>
              </a:defRPr>
            </a:pPr>
            <a:r>
              <a:rPr sz="1650" b="1">
                <a:solidFill>
                  <a:srgbClr val="172033"/>
                </a:solidFill>
              </a:rPr>
              <a:t>$2k-5k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BD77B80D-F102-4704-ABDC-364359C6F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467225"/>
            <a:ext cx="4876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47287"/>
                </a:solidFill>
              </a:defRPr>
            </a:pPr>
            <a:r>
              <a:rPr sz="975">
                <a:solidFill>
                  <a:srgbClr val="647287"/>
                </a:solidFill>
              </a:rPr>
              <a:t>81 tickets  /  avg 26.0 days</a:t>
            </a:r>
          </a:p>
        </p:txBody>
      </p:sp>
      <p:graphicFrame>
        <p:nvGraphicFramePr>
          <p:cNvPr id="182" name="Chart"/>
          <p:cNvGraphicFramePr/>
          <p:nvPr/>
        </p:nvGraphicFramePr>
        <p:xfrm>
          <a:off xmlns:a="http://schemas.openxmlformats.org/drawingml/2006/main" x="781050" y="4610100"/>
          <a:ext xmlns:a="http://schemas.openxmlformats.org/drawingml/2006/main" cx="1428750" cy="1428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664306526acc4ead"/>
          </a:graphicData>
        </a:graphic>
      </p:graphicFrame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4D16E8CA-3281-489B-B0D2-4F611FF8C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467677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8F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E4D3F6EB-AB00-4C76-9B06-432FF09C7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4638675"/>
            <a:ext cx="8763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526176"/>
                </a:solidFill>
              </a:defRPr>
            </a:pPr>
            <a:r>
              <a:rPr sz="975">
                <a:solidFill>
                  <a:srgbClr val="526176"/>
                </a:solidFill>
              </a:rPr>
              <a:t>0-7 days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CB8C5F54-4346-43BF-AE8D-7247F8C8E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4638675"/>
            <a:ext cx="8953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1D2A3D"/>
                </a:solidFill>
              </a:defRPr>
            </a:pPr>
            <a:r>
              <a:rPr sz="975">
                <a:solidFill>
                  <a:srgbClr val="1D2A3D"/>
                </a:solidFill>
              </a:rPr>
              <a:t>8 tickets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99E6BAFE-3F3E-4D8E-B6F6-F76693E63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4638675"/>
            <a:ext cx="5334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1D2A3D"/>
                </a:solidFill>
              </a:defRPr>
            </a:pPr>
            <a:r>
              <a:rPr sz="975">
                <a:solidFill>
                  <a:srgbClr val="1D2A3D"/>
                </a:solidFill>
              </a:rPr>
              <a:t>9.9%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76531A41-34EB-4DA0-B9D0-E540A9654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486727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F8F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2F0919A9-F597-451B-B077-8482ED307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4829175"/>
            <a:ext cx="8763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526176"/>
                </a:solidFill>
              </a:defRPr>
            </a:pPr>
            <a:r>
              <a:rPr sz="975">
                <a:solidFill>
                  <a:srgbClr val="526176"/>
                </a:solidFill>
              </a:rPr>
              <a:t>8-14 days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D79F22EA-ABF5-45C1-BDDB-AE44A31F2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4829175"/>
            <a:ext cx="8953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1D2A3D"/>
                </a:solidFill>
              </a:defRPr>
            </a:pPr>
            <a:r>
              <a:rPr sz="975">
                <a:solidFill>
                  <a:srgbClr val="1D2A3D"/>
                </a:solidFill>
              </a:rPr>
              <a:t>24 tickets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7BD333DC-7BDA-447F-BC89-28FD14704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4829175"/>
            <a:ext cx="5334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1D2A3D"/>
                </a:solidFill>
              </a:defRPr>
            </a:pPr>
            <a:r>
              <a:rPr sz="975">
                <a:solidFill>
                  <a:srgbClr val="1D2A3D"/>
                </a:solidFill>
              </a:rPr>
              <a:t>29.6%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F90A40ED-6909-42A7-87A0-F2EC6E372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05777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74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25991AF3-88E2-4226-830F-FC891CA89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5019675"/>
            <a:ext cx="8763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526176"/>
                </a:solidFill>
              </a:defRPr>
            </a:pPr>
            <a:r>
              <a:rPr sz="975">
                <a:solidFill>
                  <a:srgbClr val="526176"/>
                </a:solidFill>
              </a:rPr>
              <a:t>15-21 days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B4A759A2-CEA0-4755-8F01-B34E180F9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5019675"/>
            <a:ext cx="8953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1D2A3D"/>
                </a:solidFill>
              </a:defRPr>
            </a:pPr>
            <a:r>
              <a:rPr sz="975">
                <a:solidFill>
                  <a:srgbClr val="1D2A3D"/>
                </a:solidFill>
              </a:rPr>
              <a:t>17 tickets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A6279D1A-606B-4435-8AB0-C1FA191A2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5019675"/>
            <a:ext cx="5334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1D2A3D"/>
                </a:solidFill>
              </a:defRPr>
            </a:pPr>
            <a:r>
              <a:rPr sz="975">
                <a:solidFill>
                  <a:srgbClr val="1D2A3D"/>
                </a:solidFill>
              </a:rPr>
              <a:t>21.0%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5921843D-4D7F-4425-9710-6EFDBAFFB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24827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8A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9347CFDA-2918-4CCA-AEA9-2E535B184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5210175"/>
            <a:ext cx="8763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526176"/>
                </a:solidFill>
              </a:defRPr>
            </a:pPr>
            <a:r>
              <a:rPr sz="975">
                <a:solidFill>
                  <a:srgbClr val="526176"/>
                </a:solidFill>
              </a:rPr>
              <a:t>22-30 days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EE78B56D-9962-4F4E-96C0-EFB9EDFD1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5210175"/>
            <a:ext cx="8953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1D2A3D"/>
                </a:solidFill>
              </a:defRPr>
            </a:pPr>
            <a:r>
              <a:rPr sz="975">
                <a:solidFill>
                  <a:srgbClr val="1D2A3D"/>
                </a:solidFill>
              </a:rPr>
              <a:t>8 tickets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60467FC8-7BFE-4F98-8AC7-65B7E1D94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5210175"/>
            <a:ext cx="5334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1D2A3D"/>
                </a:solidFill>
              </a:defRPr>
            </a:pPr>
            <a:r>
              <a:rPr sz="975">
                <a:solidFill>
                  <a:srgbClr val="1D2A3D"/>
                </a:solidFill>
              </a:rPr>
              <a:t>9.9%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E4C47C39-C9D6-4713-A51B-11C323DC9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43877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F9F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CBA36B28-2668-49CF-A75B-ADF636FB2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5400675"/>
            <a:ext cx="8763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526176"/>
                </a:solidFill>
              </a:defRPr>
            </a:pPr>
            <a:r>
              <a:rPr sz="975">
                <a:solidFill>
                  <a:srgbClr val="526176"/>
                </a:solidFill>
              </a:rPr>
              <a:t>31-60 days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85999A43-CECF-4639-8063-1025D2C3D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5400675"/>
            <a:ext cx="8953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1D2A3D"/>
                </a:solidFill>
              </a:defRPr>
            </a:pPr>
            <a:r>
              <a:rPr sz="975">
                <a:solidFill>
                  <a:srgbClr val="1D2A3D"/>
                </a:solidFill>
              </a:rPr>
              <a:t>20 tickets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AC397793-546C-4B93-A368-DF3AAB6EE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5400675"/>
            <a:ext cx="5334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1D2A3D"/>
                </a:solidFill>
              </a:defRPr>
            </a:pPr>
            <a:r>
              <a:rPr sz="975">
                <a:solidFill>
                  <a:srgbClr val="1D2A3D"/>
                </a:solidFill>
              </a:rPr>
              <a:t>24.7%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091800F6-F4FE-4FA1-9AA2-8D3D37D52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62927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513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6CB77906-0E2F-4BD3-8DB5-1754E630E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5591175"/>
            <a:ext cx="8763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526176"/>
                </a:solidFill>
              </a:defRPr>
            </a:pPr>
            <a:r>
              <a:rPr sz="975">
                <a:solidFill>
                  <a:srgbClr val="526176"/>
                </a:solidFill>
              </a:rPr>
              <a:t>60+ days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8A9F25D3-2308-4B1A-ADF0-20A100C67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5591175"/>
            <a:ext cx="8953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1D2A3D"/>
                </a:solidFill>
              </a:defRPr>
            </a:pPr>
            <a:r>
              <a:rPr sz="975">
                <a:solidFill>
                  <a:srgbClr val="1D2A3D"/>
                </a:solidFill>
              </a:rPr>
              <a:t>4 tickets</a:t>
            </a:r>
          </a:p>
        </p:txBody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D3CCEE5A-33E7-413E-908B-A4CE1346B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5591175"/>
            <a:ext cx="5334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1D2A3D"/>
                </a:solidFill>
              </a:defRPr>
            </a:pPr>
            <a:r>
              <a:rPr sz="975">
                <a:solidFill>
                  <a:srgbClr val="1D2A3D"/>
                </a:solidFill>
              </a:rPr>
              <a:t>4.9%</a:t>
            </a:r>
          </a:p>
        </p:txBody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47E595F3-529E-402E-A302-6F39A4FB3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057650"/>
            <a:ext cx="5219700" cy="2038350"/>
          </a:xfrm>
          <a:prstGeom xmlns:a="http://schemas.openxmlformats.org/drawingml/2006/main" prst="roundRect">
            <a:avLst>
              <a:gd name="adj" fmla="val 56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4F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295EFC63-CFF3-412F-9A89-575154D7D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421005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2033"/>
                </a:solidFill>
              </a:defRPr>
            </a:pPr>
            <a:r>
              <a:rPr sz="1650" b="1">
                <a:solidFill>
                  <a:srgbClr val="172033"/>
                </a:solidFill>
              </a:rPr>
              <a:t>$5k+</a:t>
            </a:r>
          </a:p>
        </p:txBody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E32F5F9D-ACF7-4217-AC5C-6A956193D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4467225"/>
            <a:ext cx="4876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47287"/>
                </a:solidFill>
              </a:defRPr>
            </a:pPr>
            <a:r>
              <a:rPr sz="975">
                <a:solidFill>
                  <a:srgbClr val="647287"/>
                </a:solidFill>
              </a:rPr>
              <a:t>12 tickets  /  avg 30.1 days</a:t>
            </a:r>
          </a:p>
        </p:txBody>
      </p:sp>
      <p:graphicFrame>
        <p:nvGraphicFramePr>
          <p:cNvPr id="210" name="Chart"/>
          <p:cNvGraphicFramePr/>
          <p:nvPr/>
        </p:nvGraphicFramePr>
        <p:xfrm>
          <a:off xmlns:a="http://schemas.openxmlformats.org/drawingml/2006/main" x="6534150" y="4610100"/>
          <a:ext xmlns:a="http://schemas.openxmlformats.org/drawingml/2006/main" cx="1428750" cy="1428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a33c3b8b4aa04489"/>
          </a:graphicData>
        </a:graphic>
      </p:graphicFrame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2DDA5959-2B5B-403F-92D5-CC52782C3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67677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8F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4F757F46-380C-414F-91C3-83DB14F46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638675"/>
            <a:ext cx="8763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526176"/>
                </a:solidFill>
              </a:defRPr>
            </a:pPr>
            <a:r>
              <a:rPr sz="975">
                <a:solidFill>
                  <a:srgbClr val="526176"/>
                </a:solidFill>
              </a:rPr>
              <a:t>0-7 days</a:t>
            </a:r>
          </a:p>
        </p:txBody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8495214A-B872-4F69-AAB0-DEF7BA4FD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4638675"/>
            <a:ext cx="8953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1D2A3D"/>
                </a:solidFill>
              </a:defRPr>
            </a:pPr>
            <a:r>
              <a:rPr sz="975">
                <a:solidFill>
                  <a:srgbClr val="1D2A3D"/>
                </a:solidFill>
              </a:rPr>
              <a:t>3 tickets</a:t>
            </a: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45915756-2EE2-4980-8AA5-C80FDFE76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4638675"/>
            <a:ext cx="5334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1D2A3D"/>
                </a:solidFill>
              </a:defRPr>
            </a:pPr>
            <a:r>
              <a:rPr sz="975">
                <a:solidFill>
                  <a:srgbClr val="1D2A3D"/>
                </a:solidFill>
              </a:rPr>
              <a:t>25.0%</a:t>
            </a:r>
          </a:p>
        </p:txBody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4BE757DB-8DE0-48E7-B501-544E27DE6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86727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F8F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A48B68D0-607B-4A9C-91E8-7DD794C95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829175"/>
            <a:ext cx="8763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526176"/>
                </a:solidFill>
              </a:defRPr>
            </a:pPr>
            <a:r>
              <a:rPr sz="975">
                <a:solidFill>
                  <a:srgbClr val="526176"/>
                </a:solidFill>
              </a:rPr>
              <a:t>8-14 days</a:t>
            </a:r>
          </a:p>
        </p:txBody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F6F11A74-490F-4A78-874F-911962DA0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4829175"/>
            <a:ext cx="8953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1D2A3D"/>
                </a:solidFill>
              </a:defRPr>
            </a:pPr>
            <a:r>
              <a:rPr sz="975">
                <a:solidFill>
                  <a:srgbClr val="1D2A3D"/>
                </a:solidFill>
              </a:rPr>
              <a:t>3 tickets</a:t>
            </a:r>
          </a:p>
        </p:txBody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E954F591-DA43-4425-9F5C-9F0E5AD77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4829175"/>
            <a:ext cx="5334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1D2A3D"/>
                </a:solidFill>
              </a:defRPr>
            </a:pPr>
            <a:r>
              <a:rPr sz="975">
                <a:solidFill>
                  <a:srgbClr val="1D2A3D"/>
                </a:solidFill>
              </a:rPr>
              <a:t>25.0%</a:t>
            </a:r>
          </a:p>
        </p:txBody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E0FD21F3-2786-470F-9E82-579FF1AF8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505777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74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B715776B-8F22-4C14-9758-306BC578A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5019675"/>
            <a:ext cx="8763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526176"/>
                </a:solidFill>
              </a:defRPr>
            </a:pPr>
            <a:r>
              <a:rPr sz="975">
                <a:solidFill>
                  <a:srgbClr val="526176"/>
                </a:solidFill>
              </a:rPr>
              <a:t>15-21 days</a:t>
            </a:r>
          </a:p>
        </p:txBody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486C4FE9-BFFD-48A5-90CC-88ECA5E65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5019675"/>
            <a:ext cx="8953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1D2A3D"/>
                </a:solidFill>
              </a:defRPr>
            </a:pPr>
            <a:r>
              <a:rPr sz="975">
                <a:solidFill>
                  <a:srgbClr val="1D2A3D"/>
                </a:solidFill>
              </a:rPr>
              <a:t>2 tickets</a:t>
            </a:r>
          </a:p>
        </p:txBody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C717B6BE-4023-4DB2-B826-5182EF6CA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5019675"/>
            <a:ext cx="5334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1D2A3D"/>
                </a:solidFill>
              </a:defRPr>
            </a:pPr>
            <a:r>
              <a:rPr sz="975">
                <a:solidFill>
                  <a:srgbClr val="1D2A3D"/>
                </a:solidFill>
              </a:rPr>
              <a:t>16.7%</a:t>
            </a:r>
          </a:p>
        </p:txBody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2E70E443-C566-4EFD-B2A9-112FFFE5F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524827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8A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00BA3214-EB37-44B1-827F-69BA514FA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5210175"/>
            <a:ext cx="8763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526176"/>
                </a:solidFill>
              </a:defRPr>
            </a:pPr>
            <a:r>
              <a:rPr sz="975">
                <a:solidFill>
                  <a:srgbClr val="526176"/>
                </a:solidFill>
              </a:rPr>
              <a:t>22-30 days</a:t>
            </a:r>
          </a:p>
        </p:txBody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CB199150-DAEE-4465-8327-77FB09389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5210175"/>
            <a:ext cx="8953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1D2A3D"/>
                </a:solidFill>
              </a:defRPr>
            </a:pPr>
            <a:r>
              <a:rPr sz="975">
                <a:solidFill>
                  <a:srgbClr val="1D2A3D"/>
                </a:solidFill>
              </a:rPr>
              <a:t>1 tickets</a:t>
            </a:r>
          </a:p>
        </p:txBody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D3DB699C-CE7D-468C-8564-4F448E89D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5210175"/>
            <a:ext cx="5334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1D2A3D"/>
                </a:solidFill>
              </a:defRPr>
            </a:pPr>
            <a:r>
              <a:rPr sz="975">
                <a:solidFill>
                  <a:srgbClr val="1D2A3D"/>
                </a:solidFill>
              </a:rPr>
              <a:t>8.3%</a:t>
            </a:r>
          </a:p>
        </p:txBody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2862CDD3-74CF-4D7A-82A9-6A822C33E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543877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F9F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D11D389C-6903-4CB4-889C-2EECDB79E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5400675"/>
            <a:ext cx="8763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526176"/>
                </a:solidFill>
              </a:defRPr>
            </a:pPr>
            <a:r>
              <a:rPr sz="975">
                <a:solidFill>
                  <a:srgbClr val="526176"/>
                </a:solidFill>
              </a:rPr>
              <a:t>31-60 days</a:t>
            </a:r>
          </a:p>
        </p:txBody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97372AD2-D6D6-40D5-BC62-F1361A3D3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5400675"/>
            <a:ext cx="8953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1D2A3D"/>
                </a:solidFill>
              </a:defRPr>
            </a:pPr>
            <a:r>
              <a:rPr sz="975">
                <a:solidFill>
                  <a:srgbClr val="1D2A3D"/>
                </a:solidFill>
              </a:rPr>
              <a:t>2 tickets</a:t>
            </a:r>
          </a:p>
        </p:txBody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0F39E527-6EE0-4F9C-A12D-E34CAE506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5400675"/>
            <a:ext cx="5334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1D2A3D"/>
                </a:solidFill>
              </a:defRPr>
            </a:pPr>
            <a:r>
              <a:rPr sz="975">
                <a:solidFill>
                  <a:srgbClr val="1D2A3D"/>
                </a:solidFill>
              </a:rPr>
              <a:t>16.7%</a:t>
            </a:r>
          </a:p>
        </p:txBody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469EA18F-1D21-4C7E-B81C-5BE8FA99F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562927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513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E475BBB4-3944-4C72-9C64-65CED603A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5591175"/>
            <a:ext cx="8763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526176"/>
                </a:solidFill>
              </a:defRPr>
            </a:pPr>
            <a:r>
              <a:rPr sz="975">
                <a:solidFill>
                  <a:srgbClr val="526176"/>
                </a:solidFill>
              </a:rPr>
              <a:t>60+ days</a:t>
            </a:r>
          </a:p>
        </p:txBody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AD8DFAE2-38BE-4799-9B50-7E17214B5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5591175"/>
            <a:ext cx="8953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1D2A3D"/>
                </a:solidFill>
              </a:defRPr>
            </a:pPr>
            <a:r>
              <a:rPr sz="975">
                <a:solidFill>
                  <a:srgbClr val="1D2A3D"/>
                </a:solidFill>
              </a:rPr>
              <a:t>1 tickets</a:t>
            </a:r>
          </a:p>
        </p:txBody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A61D5811-F424-4B8F-9AAB-AA02596AC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5591175"/>
            <a:ext cx="5334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1D2A3D"/>
                </a:solidFill>
              </a:defRPr>
            </a:pPr>
            <a:r>
              <a:rPr sz="975">
                <a:solidFill>
                  <a:srgbClr val="1D2A3D"/>
                </a:solidFill>
              </a:rPr>
              <a:t>8.3%</a:t>
            </a:r>
          </a:p>
        </p:txBody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28432E08-B5B7-4DAE-B6D6-E30F50447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00050"/>
            <a:ext cx="2628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>
                <a:solidFill>
                  <a:srgbClr val="0D6D6B"/>
                </a:solidFill>
              </a:defRPr>
            </a:pPr>
            <a:r>
              <a:rPr sz="1125">
                <a:solidFill>
                  <a:srgbClr val="0D6D6B"/>
                </a:solidFill>
              </a:rPr>
              <a:t>Parts preparation timing by claim value band</a:t>
            </a:r>
          </a:p>
        </p:txBody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8C04528F-27D7-40C7-A837-DD5A8B662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4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B2453CB9-4E85-4943-9F76-A2F9DAC99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7A8796"/>
                </a:solidFill>
              </a:defRPr>
            </a:pPr>
            <a:r>
              <a:rPr sz="825">
                <a:solidFill>
                  <a:srgbClr val="7A8796"/>
                </a:solidFill>
              </a:rPr>
              <a:t>Generated from ticket_timeline_summary.json</a:t>
            </a:r>
          </a:p>
        </p:txBody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64AC964E-711E-499C-910C-9D435D65C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389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>
                <a:solidFill>
                  <a:srgbClr val="7A8796"/>
                </a:solidFill>
              </a:defRPr>
            </a:pPr>
            <a:r>
              <a:rPr sz="825">
                <a:solidFill>
                  <a:srgbClr val="7A8796"/>
                </a:solidFill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53653239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057C6ECF-458F-43CD-97AF-801DA8D83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266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0F8F8C"/>
                </a:solidFill>
              </a:defRPr>
            </a:pPr>
            <a:r>
              <a:rPr sz="900" b="1">
                <a:solidFill>
                  <a:srgbClr val="0F8F8C"/>
                </a:solidFill>
              </a:rPr>
              <a:t>2026 TICKET TIMELINE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502A172-1065-49B2-970E-E72A4BF7B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8191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72033"/>
                </a:solidFill>
              </a:defRPr>
            </a:pPr>
            <a:r>
              <a:rPr sz="2700" b="1">
                <a:solidFill>
                  <a:srgbClr val="172033"/>
                </a:solidFill>
              </a:rPr>
              <a:t>Repairer Time: duration mix by ticket value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4D4F91E-F53C-4CFE-BEEC-9CF3C5CCD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43000"/>
            <a:ext cx="723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647287"/>
                </a:solidFill>
              </a:defRPr>
            </a:pPr>
            <a:r>
              <a:rPr sz="1200">
                <a:solidFill>
                  <a:srgbClr val="647287"/>
                </a:solidFill>
              </a:rPr>
              <a:t>941 priced tickets. Percentages are ticket-count share within each price band, not claim amount share.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897085A-2E5F-4240-BA0E-FD82A6F82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95450"/>
            <a:ext cx="5219700" cy="2038350"/>
          </a:xfrm>
          <a:prstGeom xmlns:a="http://schemas.openxmlformats.org/drawingml/2006/main" prst="roundRect">
            <a:avLst>
              <a:gd name="adj" fmla="val 56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4F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A9E8C8C-96C4-468E-9865-040215BDA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4785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2033"/>
                </a:solidFill>
              </a:defRPr>
            </a:pPr>
            <a:r>
              <a:rPr sz="1650" b="1">
                <a:solidFill>
                  <a:srgbClr val="172033"/>
                </a:solidFill>
              </a:rPr>
              <a:t>$0-500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80B55BA-19DD-4564-A4AC-A5177BC64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05025"/>
            <a:ext cx="4876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47287"/>
                </a:solidFill>
              </a:defRPr>
            </a:pPr>
            <a:r>
              <a:rPr sz="975">
                <a:solidFill>
                  <a:srgbClr val="647287"/>
                </a:solidFill>
              </a:rPr>
              <a:t>560 tickets  /  avg 31.5 days</a:t>
            </a:r>
          </a:p>
        </p:txBody>
      </p:sp>
      <p:graphicFrame>
        <p:nvGraphicFramePr>
          <p:cNvPr id="126" name="Chart"/>
          <p:cNvGraphicFramePr/>
          <p:nvPr/>
        </p:nvGraphicFramePr>
        <p:xfrm>
          <a:off xmlns:a="http://schemas.openxmlformats.org/drawingml/2006/main" x="781050" y="2247900"/>
          <a:ext xmlns:a="http://schemas.openxmlformats.org/drawingml/2006/main" cx="1428750" cy="1428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d429f065ee0c4342"/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0B3BA16-5876-46A1-9334-C749EC627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231457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8F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3DD37C5-EF8A-4AD1-B88C-29D36A71E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2276475"/>
            <a:ext cx="8763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526176"/>
                </a:solidFill>
              </a:defRPr>
            </a:pPr>
            <a:r>
              <a:rPr sz="975">
                <a:solidFill>
                  <a:srgbClr val="526176"/>
                </a:solidFill>
              </a:rPr>
              <a:t>0-7 days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1269C83-2EBB-40CF-8274-2658B0727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276475"/>
            <a:ext cx="8953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1D2A3D"/>
                </a:solidFill>
              </a:defRPr>
            </a:pPr>
            <a:r>
              <a:rPr sz="975">
                <a:solidFill>
                  <a:srgbClr val="1D2A3D"/>
                </a:solidFill>
              </a:rPr>
              <a:t>117 tickets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91B1C6A-F243-4C5B-8A42-B23F7AC94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2276475"/>
            <a:ext cx="5334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1D2A3D"/>
                </a:solidFill>
              </a:defRPr>
            </a:pPr>
            <a:r>
              <a:rPr sz="975">
                <a:solidFill>
                  <a:srgbClr val="1D2A3D"/>
                </a:solidFill>
              </a:rPr>
              <a:t>20.9%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9FAD495-7FFB-4083-8281-249AA9AB5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250507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F8F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D0ED237-0779-49B9-AFFA-168DAC4B0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2466975"/>
            <a:ext cx="8763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526176"/>
                </a:solidFill>
              </a:defRPr>
            </a:pPr>
            <a:r>
              <a:rPr sz="975">
                <a:solidFill>
                  <a:srgbClr val="526176"/>
                </a:solidFill>
              </a:rPr>
              <a:t>8-14 days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83612B6-A834-45C3-85D0-DA6717302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466975"/>
            <a:ext cx="8953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1D2A3D"/>
                </a:solidFill>
              </a:defRPr>
            </a:pPr>
            <a:r>
              <a:rPr sz="975">
                <a:solidFill>
                  <a:srgbClr val="1D2A3D"/>
                </a:solidFill>
              </a:rPr>
              <a:t>102 tickets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AE2B1D7-FA92-4038-8DF0-421141A15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2466975"/>
            <a:ext cx="5334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1D2A3D"/>
                </a:solidFill>
              </a:defRPr>
            </a:pPr>
            <a:r>
              <a:rPr sz="975">
                <a:solidFill>
                  <a:srgbClr val="1D2A3D"/>
                </a:solidFill>
              </a:rPr>
              <a:t>18.2%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11C2DEE-2167-4231-B066-D409C7762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269557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74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4D74C73-EC05-478E-957B-D6C488C28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2657475"/>
            <a:ext cx="8763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526176"/>
                </a:solidFill>
              </a:defRPr>
            </a:pPr>
            <a:r>
              <a:rPr sz="975">
                <a:solidFill>
                  <a:srgbClr val="526176"/>
                </a:solidFill>
              </a:rPr>
              <a:t>15-21 days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C64D3B0-9383-4731-91C3-610936F24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657475"/>
            <a:ext cx="8953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1D2A3D"/>
                </a:solidFill>
              </a:defRPr>
            </a:pPr>
            <a:r>
              <a:rPr sz="975">
                <a:solidFill>
                  <a:srgbClr val="1D2A3D"/>
                </a:solidFill>
              </a:rPr>
              <a:t>66 tickets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873549D-0C83-4BE6-A962-1652AC035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2657475"/>
            <a:ext cx="5334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1D2A3D"/>
                </a:solidFill>
              </a:defRPr>
            </a:pPr>
            <a:r>
              <a:rPr sz="975">
                <a:solidFill>
                  <a:srgbClr val="1D2A3D"/>
                </a:solidFill>
              </a:rPr>
              <a:t>11.8%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7097CF5-64EC-46B2-A1EB-3C9587889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288607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8A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F8628AC-6F59-45FC-A942-BC2DF707A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2847975"/>
            <a:ext cx="8763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526176"/>
                </a:solidFill>
              </a:defRPr>
            </a:pPr>
            <a:r>
              <a:rPr sz="975">
                <a:solidFill>
                  <a:srgbClr val="526176"/>
                </a:solidFill>
              </a:rPr>
              <a:t>22-30 days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04264DD-F64A-47EC-B5EE-73D18DA76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847975"/>
            <a:ext cx="8953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1D2A3D"/>
                </a:solidFill>
              </a:defRPr>
            </a:pPr>
            <a:r>
              <a:rPr sz="975">
                <a:solidFill>
                  <a:srgbClr val="1D2A3D"/>
                </a:solidFill>
              </a:rPr>
              <a:t>53 tickets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5460627-2D88-4D01-BEE5-A697C19CA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2847975"/>
            <a:ext cx="5334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1D2A3D"/>
                </a:solidFill>
              </a:defRPr>
            </a:pPr>
            <a:r>
              <a:rPr sz="975">
                <a:solidFill>
                  <a:srgbClr val="1D2A3D"/>
                </a:solidFill>
              </a:rPr>
              <a:t>9.5%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00D2BBB-DF8B-4ED3-B6AB-22E969EA7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307657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F9F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FF9C323-AC35-4A3C-AC6B-3A85E8160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3038475"/>
            <a:ext cx="8763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526176"/>
                </a:solidFill>
              </a:defRPr>
            </a:pPr>
            <a:r>
              <a:rPr sz="975">
                <a:solidFill>
                  <a:srgbClr val="526176"/>
                </a:solidFill>
              </a:rPr>
              <a:t>31-60 days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67BBFE6-42BC-4958-8388-403E6A60A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3038475"/>
            <a:ext cx="8953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1D2A3D"/>
                </a:solidFill>
              </a:defRPr>
            </a:pPr>
            <a:r>
              <a:rPr sz="975">
                <a:solidFill>
                  <a:srgbClr val="1D2A3D"/>
                </a:solidFill>
              </a:rPr>
              <a:t>132 tickets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0F63EF3-2473-46BB-A1F2-1443819CF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3038475"/>
            <a:ext cx="5334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1D2A3D"/>
                </a:solidFill>
              </a:defRPr>
            </a:pPr>
            <a:r>
              <a:rPr sz="975">
                <a:solidFill>
                  <a:srgbClr val="1D2A3D"/>
                </a:solidFill>
              </a:rPr>
              <a:t>23.6%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5FB0A9C-41C6-4906-AFBB-239F5ECCA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326707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513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53529E2-C75F-49FB-9F55-60AE2A285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3228975"/>
            <a:ext cx="8763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526176"/>
                </a:solidFill>
              </a:defRPr>
            </a:pPr>
            <a:r>
              <a:rPr sz="975">
                <a:solidFill>
                  <a:srgbClr val="526176"/>
                </a:solidFill>
              </a:rPr>
              <a:t>60+ days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B03D048-3F0A-4D14-958C-56ACC9B97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3228975"/>
            <a:ext cx="8953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1D2A3D"/>
                </a:solidFill>
              </a:defRPr>
            </a:pPr>
            <a:r>
              <a:rPr sz="975">
                <a:solidFill>
                  <a:srgbClr val="1D2A3D"/>
                </a:solidFill>
              </a:rPr>
              <a:t>90 tickets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4FE35B1-0371-4E41-8AF2-494685418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3228975"/>
            <a:ext cx="5334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1D2A3D"/>
                </a:solidFill>
              </a:defRPr>
            </a:pPr>
            <a:r>
              <a:rPr sz="975">
                <a:solidFill>
                  <a:srgbClr val="1D2A3D"/>
                </a:solidFill>
              </a:rPr>
              <a:t>16.1%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2B0C5CB-B5EC-4636-8F14-496B10ECE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695450"/>
            <a:ext cx="5219700" cy="2038350"/>
          </a:xfrm>
          <a:prstGeom xmlns:a="http://schemas.openxmlformats.org/drawingml/2006/main" prst="roundRect">
            <a:avLst>
              <a:gd name="adj" fmla="val 56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4F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0689479-F55F-4E88-85F0-5E4246F2E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184785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2033"/>
                </a:solidFill>
              </a:defRPr>
            </a:pPr>
            <a:r>
              <a:rPr sz="1650" b="1">
                <a:solidFill>
                  <a:srgbClr val="172033"/>
                </a:solidFill>
              </a:rPr>
              <a:t>$500-2k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C31242F-45F6-490B-92C1-62927F78A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105025"/>
            <a:ext cx="4876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47287"/>
                </a:solidFill>
              </a:defRPr>
            </a:pPr>
            <a:r>
              <a:rPr sz="975">
                <a:solidFill>
                  <a:srgbClr val="647287"/>
                </a:solidFill>
              </a:rPr>
              <a:t>363 tickets  /  avg 34.5 days</a:t>
            </a:r>
          </a:p>
        </p:txBody>
      </p:sp>
      <p:graphicFrame>
        <p:nvGraphicFramePr>
          <p:cNvPr id="154" name="Chart"/>
          <p:cNvGraphicFramePr/>
          <p:nvPr/>
        </p:nvGraphicFramePr>
        <p:xfrm>
          <a:off xmlns:a="http://schemas.openxmlformats.org/drawingml/2006/main" x="6534150" y="2247900"/>
          <a:ext xmlns:a="http://schemas.openxmlformats.org/drawingml/2006/main" cx="1428750" cy="1428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8637c74c38fc4683"/>
          </a:graphicData>
        </a:graphic>
      </p:graphicFrame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B757EB1-18FB-40F1-A410-5051D8619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31457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8F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1C1D2BD-C639-48D3-9F1D-B6B27A7B8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276475"/>
            <a:ext cx="8763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526176"/>
                </a:solidFill>
              </a:defRPr>
            </a:pPr>
            <a:r>
              <a:rPr sz="975">
                <a:solidFill>
                  <a:srgbClr val="526176"/>
                </a:solidFill>
              </a:rPr>
              <a:t>0-7 days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471103D-33A9-4A36-8371-47827BD57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276475"/>
            <a:ext cx="8953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1D2A3D"/>
                </a:solidFill>
              </a:defRPr>
            </a:pPr>
            <a:r>
              <a:rPr sz="975">
                <a:solidFill>
                  <a:srgbClr val="1D2A3D"/>
                </a:solidFill>
              </a:rPr>
              <a:t>45 tickets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CF062A8-28BF-4D23-809B-CB735C6AB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2276475"/>
            <a:ext cx="5334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1D2A3D"/>
                </a:solidFill>
              </a:defRPr>
            </a:pPr>
            <a:r>
              <a:rPr sz="975">
                <a:solidFill>
                  <a:srgbClr val="1D2A3D"/>
                </a:solidFill>
              </a:rPr>
              <a:t>12.4%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EB15B5E-3275-43C8-B82D-C3E237D34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50507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F8F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55BEDB6E-E988-4DA9-99AD-D11F6DA08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466975"/>
            <a:ext cx="8763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526176"/>
                </a:solidFill>
              </a:defRPr>
            </a:pPr>
            <a:r>
              <a:rPr sz="975">
                <a:solidFill>
                  <a:srgbClr val="526176"/>
                </a:solidFill>
              </a:rPr>
              <a:t>8-14 days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4D9A2505-4389-4ACE-B8BD-5DB409205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466975"/>
            <a:ext cx="8953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1D2A3D"/>
                </a:solidFill>
              </a:defRPr>
            </a:pPr>
            <a:r>
              <a:rPr sz="975">
                <a:solidFill>
                  <a:srgbClr val="1D2A3D"/>
                </a:solidFill>
              </a:rPr>
              <a:t>51 tickets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D2F9730D-BCD0-405C-BF2F-BE06C418D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2466975"/>
            <a:ext cx="5334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1D2A3D"/>
                </a:solidFill>
              </a:defRPr>
            </a:pPr>
            <a:r>
              <a:rPr sz="975">
                <a:solidFill>
                  <a:srgbClr val="1D2A3D"/>
                </a:solidFill>
              </a:rPr>
              <a:t>14.0%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A3629FA0-C445-43C0-967B-212F8FD01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69557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74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552340EC-31D6-45D0-89C9-78F30B042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657475"/>
            <a:ext cx="8763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526176"/>
                </a:solidFill>
              </a:defRPr>
            </a:pPr>
            <a:r>
              <a:rPr sz="975">
                <a:solidFill>
                  <a:srgbClr val="526176"/>
                </a:solidFill>
              </a:rPr>
              <a:t>15-21 days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26663063-2CC1-4E22-902F-CD9BB4E4A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657475"/>
            <a:ext cx="8953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1D2A3D"/>
                </a:solidFill>
              </a:defRPr>
            </a:pPr>
            <a:r>
              <a:rPr sz="975">
                <a:solidFill>
                  <a:srgbClr val="1D2A3D"/>
                </a:solidFill>
              </a:rPr>
              <a:t>53 tickets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F4AB9B99-D8E7-459E-B34F-D94AAD984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2657475"/>
            <a:ext cx="5334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1D2A3D"/>
                </a:solidFill>
              </a:defRPr>
            </a:pPr>
            <a:r>
              <a:rPr sz="975">
                <a:solidFill>
                  <a:srgbClr val="1D2A3D"/>
                </a:solidFill>
              </a:rPr>
              <a:t>14.6%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D398401E-F349-4F4D-995A-32FEB26C3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88607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8A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EBB3804F-1DC2-4A2C-80F5-7809BB574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847975"/>
            <a:ext cx="8763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526176"/>
                </a:solidFill>
              </a:defRPr>
            </a:pPr>
            <a:r>
              <a:rPr sz="975">
                <a:solidFill>
                  <a:srgbClr val="526176"/>
                </a:solidFill>
              </a:rPr>
              <a:t>22-30 days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D73CFB54-2F60-4507-9203-45ED511BA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847975"/>
            <a:ext cx="8953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1D2A3D"/>
                </a:solidFill>
              </a:defRPr>
            </a:pPr>
            <a:r>
              <a:rPr sz="975">
                <a:solidFill>
                  <a:srgbClr val="1D2A3D"/>
                </a:solidFill>
              </a:rPr>
              <a:t>41 tickets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AC649F43-C17E-40F7-B8F9-3FC404A2F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2847975"/>
            <a:ext cx="5334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1D2A3D"/>
                </a:solidFill>
              </a:defRPr>
            </a:pPr>
            <a:r>
              <a:rPr sz="975">
                <a:solidFill>
                  <a:srgbClr val="1D2A3D"/>
                </a:solidFill>
              </a:rPr>
              <a:t>11.3%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CC0CC006-732B-44A0-B5C0-3AA680D5B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07657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F9F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26168D9E-6C05-4ADD-8F71-DAB5F2873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038475"/>
            <a:ext cx="8763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526176"/>
                </a:solidFill>
              </a:defRPr>
            </a:pPr>
            <a:r>
              <a:rPr sz="975">
                <a:solidFill>
                  <a:srgbClr val="526176"/>
                </a:solidFill>
              </a:rPr>
              <a:t>31-60 days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5E2A6EED-1712-4822-B218-B302184D9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3038475"/>
            <a:ext cx="8953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1D2A3D"/>
                </a:solidFill>
              </a:defRPr>
            </a:pPr>
            <a:r>
              <a:rPr sz="975">
                <a:solidFill>
                  <a:srgbClr val="1D2A3D"/>
                </a:solidFill>
              </a:rPr>
              <a:t>110 tickets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7C6BC14D-13C3-40E5-9EC0-338B03DC0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3038475"/>
            <a:ext cx="5334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1D2A3D"/>
                </a:solidFill>
              </a:defRPr>
            </a:pPr>
            <a:r>
              <a:rPr sz="975">
                <a:solidFill>
                  <a:srgbClr val="1D2A3D"/>
                </a:solidFill>
              </a:rPr>
              <a:t>30.3%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1079A044-F2B5-45CF-A088-3AFD534C5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26707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513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435DD384-1F2F-42AA-B157-A88F17979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228975"/>
            <a:ext cx="8763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526176"/>
                </a:solidFill>
              </a:defRPr>
            </a:pPr>
            <a:r>
              <a:rPr sz="975">
                <a:solidFill>
                  <a:srgbClr val="526176"/>
                </a:solidFill>
              </a:rPr>
              <a:t>60+ days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72F278DB-C693-4A54-B49D-F00C83F87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3228975"/>
            <a:ext cx="8953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1D2A3D"/>
                </a:solidFill>
              </a:defRPr>
            </a:pPr>
            <a:r>
              <a:rPr sz="975">
                <a:solidFill>
                  <a:srgbClr val="1D2A3D"/>
                </a:solidFill>
              </a:rPr>
              <a:t>63 tickets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FBB33D3B-6A58-41FC-AC25-B153C4263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3228975"/>
            <a:ext cx="5334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1D2A3D"/>
                </a:solidFill>
              </a:defRPr>
            </a:pPr>
            <a:r>
              <a:rPr sz="975">
                <a:solidFill>
                  <a:srgbClr val="1D2A3D"/>
                </a:solidFill>
              </a:rPr>
              <a:t>17.4%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FCE55DD6-9BB5-475C-8AD7-521152E91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57650"/>
            <a:ext cx="5219700" cy="2038350"/>
          </a:xfrm>
          <a:prstGeom xmlns:a="http://schemas.openxmlformats.org/drawingml/2006/main" prst="roundRect">
            <a:avLst>
              <a:gd name="adj" fmla="val 56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4F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00C2D0E6-009A-43E0-AD01-A916C301E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21005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2033"/>
                </a:solidFill>
              </a:defRPr>
            </a:pPr>
            <a:r>
              <a:rPr sz="1650" b="1">
                <a:solidFill>
                  <a:srgbClr val="172033"/>
                </a:solidFill>
              </a:rPr>
              <a:t>$2k-5k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A8544ED2-764B-4AE0-B7FA-17D134F1C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467225"/>
            <a:ext cx="4876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47287"/>
                </a:solidFill>
              </a:defRPr>
            </a:pPr>
            <a:r>
              <a:rPr sz="975">
                <a:solidFill>
                  <a:srgbClr val="647287"/>
                </a:solidFill>
              </a:rPr>
              <a:t>16 tickets  /  avg 25.1 days</a:t>
            </a:r>
          </a:p>
        </p:txBody>
      </p:sp>
      <p:graphicFrame>
        <p:nvGraphicFramePr>
          <p:cNvPr id="182" name="Chart"/>
          <p:cNvGraphicFramePr/>
          <p:nvPr/>
        </p:nvGraphicFramePr>
        <p:xfrm>
          <a:off xmlns:a="http://schemas.openxmlformats.org/drawingml/2006/main" x="781050" y="4610100"/>
          <a:ext xmlns:a="http://schemas.openxmlformats.org/drawingml/2006/main" cx="1428750" cy="1428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5d47ed2a16744d8f"/>
          </a:graphicData>
        </a:graphic>
      </p:graphicFrame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AB8B4999-12A6-4616-ADA0-8653FF98E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467677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8F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B44D0AC3-D753-4009-8F78-439574FB0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4638675"/>
            <a:ext cx="8763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526176"/>
                </a:solidFill>
              </a:defRPr>
            </a:pPr>
            <a:r>
              <a:rPr sz="975">
                <a:solidFill>
                  <a:srgbClr val="526176"/>
                </a:solidFill>
              </a:rPr>
              <a:t>0-7 days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E195C1B2-F382-4919-8528-3AB7EEFFD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4638675"/>
            <a:ext cx="8953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1D2A3D"/>
                </a:solidFill>
              </a:defRPr>
            </a:pPr>
            <a:r>
              <a:rPr sz="975">
                <a:solidFill>
                  <a:srgbClr val="1D2A3D"/>
                </a:solidFill>
              </a:rPr>
              <a:t>6 tickets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3835F494-8D66-46B3-B8E0-72235F86C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4638675"/>
            <a:ext cx="5334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1D2A3D"/>
                </a:solidFill>
              </a:defRPr>
            </a:pPr>
            <a:r>
              <a:rPr sz="975">
                <a:solidFill>
                  <a:srgbClr val="1D2A3D"/>
                </a:solidFill>
              </a:rPr>
              <a:t>37.5%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97DA9031-4914-4996-A822-A55E139CC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486727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F8F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C927503E-FF01-4284-9183-18D5EEB5D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4829175"/>
            <a:ext cx="8763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526176"/>
                </a:solidFill>
              </a:defRPr>
            </a:pPr>
            <a:r>
              <a:rPr sz="975">
                <a:solidFill>
                  <a:srgbClr val="526176"/>
                </a:solidFill>
              </a:rPr>
              <a:t>8-14 days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88C1AC47-4F96-48CB-A528-6DA0F880D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4829175"/>
            <a:ext cx="8953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1D2A3D"/>
                </a:solidFill>
              </a:defRPr>
            </a:pPr>
            <a:r>
              <a:rPr sz="975">
                <a:solidFill>
                  <a:srgbClr val="1D2A3D"/>
                </a:solidFill>
              </a:rPr>
              <a:t>2 tickets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63722A73-9BFC-48CF-B30F-736F4C676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4829175"/>
            <a:ext cx="5334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1D2A3D"/>
                </a:solidFill>
              </a:defRPr>
            </a:pPr>
            <a:r>
              <a:rPr sz="975">
                <a:solidFill>
                  <a:srgbClr val="1D2A3D"/>
                </a:solidFill>
              </a:rPr>
              <a:t>12.5%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00624540-D195-4BFA-A043-2DE917CD8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05777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74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2CC5B57A-4F39-4A94-8F69-BF6B4D06E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5019675"/>
            <a:ext cx="8763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526176"/>
                </a:solidFill>
              </a:defRPr>
            </a:pPr>
            <a:r>
              <a:rPr sz="975">
                <a:solidFill>
                  <a:srgbClr val="526176"/>
                </a:solidFill>
              </a:rPr>
              <a:t>15-21 days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B0876643-61F1-4DE3-9B4E-6C7CDBA2E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5019675"/>
            <a:ext cx="8953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1D2A3D"/>
                </a:solidFill>
              </a:defRPr>
            </a:pPr>
            <a:r>
              <a:rPr sz="975">
                <a:solidFill>
                  <a:srgbClr val="1D2A3D"/>
                </a:solidFill>
              </a:rPr>
              <a:t>1 tickets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A4825F90-F149-49CD-A6CE-CC8E804C6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5019675"/>
            <a:ext cx="5334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1D2A3D"/>
                </a:solidFill>
              </a:defRPr>
            </a:pPr>
            <a:r>
              <a:rPr sz="975">
                <a:solidFill>
                  <a:srgbClr val="1D2A3D"/>
                </a:solidFill>
              </a:rPr>
              <a:t>6.2%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740FB06E-EDC4-4F94-A80E-2ADF3D787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24827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8A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10130292-7016-48F3-9E4F-9F182850E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5210175"/>
            <a:ext cx="8763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526176"/>
                </a:solidFill>
              </a:defRPr>
            </a:pPr>
            <a:r>
              <a:rPr sz="975">
                <a:solidFill>
                  <a:srgbClr val="526176"/>
                </a:solidFill>
              </a:rPr>
              <a:t>22-30 days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6993A5D8-FBCF-461D-B393-69A0AB33C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5210175"/>
            <a:ext cx="8953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1D2A3D"/>
                </a:solidFill>
              </a:defRPr>
            </a:pPr>
            <a:r>
              <a:rPr sz="975">
                <a:solidFill>
                  <a:srgbClr val="1D2A3D"/>
                </a:solidFill>
              </a:rPr>
              <a:t>2 tickets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F783A5DE-90EF-4C59-B9F5-BE97097AC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5210175"/>
            <a:ext cx="5334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1D2A3D"/>
                </a:solidFill>
              </a:defRPr>
            </a:pPr>
            <a:r>
              <a:rPr sz="975">
                <a:solidFill>
                  <a:srgbClr val="1D2A3D"/>
                </a:solidFill>
              </a:rPr>
              <a:t>12.5%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B44B0920-CB2E-4550-8017-03A3341DC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43877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F9F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F93CAAFD-AD53-4CAA-A7EA-F4F2AC932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5400675"/>
            <a:ext cx="8763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526176"/>
                </a:solidFill>
              </a:defRPr>
            </a:pPr>
            <a:r>
              <a:rPr sz="975">
                <a:solidFill>
                  <a:srgbClr val="526176"/>
                </a:solidFill>
              </a:rPr>
              <a:t>31-60 days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9EACCF8A-BB11-4444-8B63-CDD6803B0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5400675"/>
            <a:ext cx="8953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1D2A3D"/>
                </a:solidFill>
              </a:defRPr>
            </a:pPr>
            <a:r>
              <a:rPr sz="975">
                <a:solidFill>
                  <a:srgbClr val="1D2A3D"/>
                </a:solidFill>
              </a:rPr>
              <a:t>3 tickets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DD249165-E6F2-4B02-A7D0-19D64A6A0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5400675"/>
            <a:ext cx="5334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1D2A3D"/>
                </a:solidFill>
              </a:defRPr>
            </a:pPr>
            <a:r>
              <a:rPr sz="975">
                <a:solidFill>
                  <a:srgbClr val="1D2A3D"/>
                </a:solidFill>
              </a:rPr>
              <a:t>18.8%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C00EFFB7-5FF9-4C7D-8A74-73A5FD88F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62927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513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393D4D97-6E6C-4D1C-B07F-1CD68B5EE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5591175"/>
            <a:ext cx="8763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526176"/>
                </a:solidFill>
              </a:defRPr>
            </a:pPr>
            <a:r>
              <a:rPr sz="975">
                <a:solidFill>
                  <a:srgbClr val="526176"/>
                </a:solidFill>
              </a:rPr>
              <a:t>60+ days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0AD74664-01C4-4F18-908F-FE0E461BF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5591175"/>
            <a:ext cx="8953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1D2A3D"/>
                </a:solidFill>
              </a:defRPr>
            </a:pPr>
            <a:r>
              <a:rPr sz="975">
                <a:solidFill>
                  <a:srgbClr val="1D2A3D"/>
                </a:solidFill>
              </a:rPr>
              <a:t>2 tickets</a:t>
            </a:r>
          </a:p>
        </p:txBody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DEAFD078-17CF-431B-A98D-F60FDD381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5591175"/>
            <a:ext cx="5334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1D2A3D"/>
                </a:solidFill>
              </a:defRPr>
            </a:pPr>
            <a:r>
              <a:rPr sz="975">
                <a:solidFill>
                  <a:srgbClr val="1D2A3D"/>
                </a:solidFill>
              </a:rPr>
              <a:t>12.5%</a:t>
            </a:r>
          </a:p>
        </p:txBody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7E34ADA1-10F0-4D97-88D7-78106273F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057650"/>
            <a:ext cx="5219700" cy="2038350"/>
          </a:xfrm>
          <a:prstGeom xmlns:a="http://schemas.openxmlformats.org/drawingml/2006/main" prst="roundRect">
            <a:avLst>
              <a:gd name="adj" fmla="val 56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4F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A9987126-B6E6-4526-BB84-8034AD2F5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421005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2033"/>
                </a:solidFill>
              </a:defRPr>
            </a:pPr>
            <a:r>
              <a:rPr sz="1650" b="1">
                <a:solidFill>
                  <a:srgbClr val="172033"/>
                </a:solidFill>
              </a:rPr>
              <a:t>$5k+</a:t>
            </a:r>
          </a:p>
        </p:txBody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3E0B6F41-6D1E-4186-89B3-2B14F79B7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4467225"/>
            <a:ext cx="4876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47287"/>
                </a:solidFill>
              </a:defRPr>
            </a:pPr>
            <a:r>
              <a:rPr sz="975">
                <a:solidFill>
                  <a:srgbClr val="647287"/>
                </a:solidFill>
              </a:rPr>
              <a:t>2 tickets  /  avg 29.5 days</a:t>
            </a:r>
          </a:p>
        </p:txBody>
      </p:sp>
      <p:graphicFrame>
        <p:nvGraphicFramePr>
          <p:cNvPr id="210" name="Chart"/>
          <p:cNvGraphicFramePr/>
          <p:nvPr/>
        </p:nvGraphicFramePr>
        <p:xfrm>
          <a:off xmlns:a="http://schemas.openxmlformats.org/drawingml/2006/main" x="6534150" y="4610100"/>
          <a:ext xmlns:a="http://schemas.openxmlformats.org/drawingml/2006/main" cx="1428750" cy="1428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c2f3aee4dbf44af5"/>
          </a:graphicData>
        </a:graphic>
      </p:graphicFrame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DE8ABAB8-FA8C-476A-A5FE-A119FD781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67677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8F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5FBC89FB-9AD4-4969-B5E4-D9488DBEB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638675"/>
            <a:ext cx="8763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526176"/>
                </a:solidFill>
              </a:defRPr>
            </a:pPr>
            <a:r>
              <a:rPr sz="975">
                <a:solidFill>
                  <a:srgbClr val="526176"/>
                </a:solidFill>
              </a:rPr>
              <a:t>0-7 days</a:t>
            </a:r>
          </a:p>
        </p:txBody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B4264128-AC85-4D2A-8B47-CFAD65508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4638675"/>
            <a:ext cx="8953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1D2A3D"/>
                </a:solidFill>
              </a:defRPr>
            </a:pPr>
            <a:r>
              <a:rPr sz="975">
                <a:solidFill>
                  <a:srgbClr val="1D2A3D"/>
                </a:solidFill>
              </a:rPr>
              <a:t>0 tickets</a:t>
            </a: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D774D630-8522-4551-82BA-E98E44099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4638675"/>
            <a:ext cx="5334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1D2A3D"/>
                </a:solidFill>
              </a:defRPr>
            </a:pPr>
            <a:r>
              <a:rPr sz="975">
                <a:solidFill>
                  <a:srgbClr val="1D2A3D"/>
                </a:solidFill>
              </a:rPr>
              <a:t>0.0%</a:t>
            </a:r>
          </a:p>
        </p:txBody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48365A39-6409-477F-9249-364C9CEAD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86727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F8F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47B2D5EE-FE98-4943-983C-D942D824D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829175"/>
            <a:ext cx="8763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526176"/>
                </a:solidFill>
              </a:defRPr>
            </a:pPr>
            <a:r>
              <a:rPr sz="975">
                <a:solidFill>
                  <a:srgbClr val="526176"/>
                </a:solidFill>
              </a:rPr>
              <a:t>8-14 days</a:t>
            </a:r>
          </a:p>
        </p:txBody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A1805A03-29A5-4E56-AC56-EF2372A1B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4829175"/>
            <a:ext cx="8953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1D2A3D"/>
                </a:solidFill>
              </a:defRPr>
            </a:pPr>
            <a:r>
              <a:rPr sz="975">
                <a:solidFill>
                  <a:srgbClr val="1D2A3D"/>
                </a:solidFill>
              </a:rPr>
              <a:t>0 tickets</a:t>
            </a:r>
          </a:p>
        </p:txBody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10B80FCE-9642-494C-93A7-38B7CFAEF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4829175"/>
            <a:ext cx="5334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1D2A3D"/>
                </a:solidFill>
              </a:defRPr>
            </a:pPr>
            <a:r>
              <a:rPr sz="975">
                <a:solidFill>
                  <a:srgbClr val="1D2A3D"/>
                </a:solidFill>
              </a:rPr>
              <a:t>0.0%</a:t>
            </a:r>
          </a:p>
        </p:txBody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16BFCA54-8324-465C-9449-769A898A3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505777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74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0A8B16C4-661E-4A12-ACD0-258568B41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5019675"/>
            <a:ext cx="8763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526176"/>
                </a:solidFill>
              </a:defRPr>
            </a:pPr>
            <a:r>
              <a:rPr sz="975">
                <a:solidFill>
                  <a:srgbClr val="526176"/>
                </a:solidFill>
              </a:rPr>
              <a:t>15-21 days</a:t>
            </a:r>
          </a:p>
        </p:txBody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1D3788A4-6FB4-46CA-801D-8D4C4B0EC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5019675"/>
            <a:ext cx="8953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1D2A3D"/>
                </a:solidFill>
              </a:defRPr>
            </a:pPr>
            <a:r>
              <a:rPr sz="975">
                <a:solidFill>
                  <a:srgbClr val="1D2A3D"/>
                </a:solidFill>
              </a:rPr>
              <a:t>0 tickets</a:t>
            </a:r>
          </a:p>
        </p:txBody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52B19A7B-73BE-4A62-81F3-A2720979D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5019675"/>
            <a:ext cx="5334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1D2A3D"/>
                </a:solidFill>
              </a:defRPr>
            </a:pPr>
            <a:r>
              <a:rPr sz="975">
                <a:solidFill>
                  <a:srgbClr val="1D2A3D"/>
                </a:solidFill>
              </a:rPr>
              <a:t>0.0%</a:t>
            </a:r>
          </a:p>
        </p:txBody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AC73A752-9BF2-4385-8EF8-CC2EC68FE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524827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8A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87AD8292-4113-40AD-A805-9659296B7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5210175"/>
            <a:ext cx="8763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526176"/>
                </a:solidFill>
              </a:defRPr>
            </a:pPr>
            <a:r>
              <a:rPr sz="975">
                <a:solidFill>
                  <a:srgbClr val="526176"/>
                </a:solidFill>
              </a:rPr>
              <a:t>22-30 days</a:t>
            </a:r>
          </a:p>
        </p:txBody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0F96EA9B-0EEE-4AB6-87D0-11A485556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5210175"/>
            <a:ext cx="8953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1D2A3D"/>
                </a:solidFill>
              </a:defRPr>
            </a:pPr>
            <a:r>
              <a:rPr sz="975">
                <a:solidFill>
                  <a:srgbClr val="1D2A3D"/>
                </a:solidFill>
              </a:rPr>
              <a:t>1 tickets</a:t>
            </a:r>
          </a:p>
        </p:txBody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967C0E04-79AD-4E95-A986-BA05AF6C4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5210175"/>
            <a:ext cx="5334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1D2A3D"/>
                </a:solidFill>
              </a:defRPr>
            </a:pPr>
            <a:r>
              <a:rPr sz="975">
                <a:solidFill>
                  <a:srgbClr val="1D2A3D"/>
                </a:solidFill>
              </a:rPr>
              <a:t>50.0%</a:t>
            </a:r>
          </a:p>
        </p:txBody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717625B4-4D1F-4AD9-A0B4-FE0179FC4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543877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F9F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2FCDC849-0EEF-4EDF-A323-978AFA885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5400675"/>
            <a:ext cx="8763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526176"/>
                </a:solidFill>
              </a:defRPr>
            </a:pPr>
            <a:r>
              <a:rPr sz="975">
                <a:solidFill>
                  <a:srgbClr val="526176"/>
                </a:solidFill>
              </a:rPr>
              <a:t>31-60 days</a:t>
            </a:r>
          </a:p>
        </p:txBody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8501C776-71AA-48D9-96D0-74DDB02A2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5400675"/>
            <a:ext cx="8953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1D2A3D"/>
                </a:solidFill>
              </a:defRPr>
            </a:pPr>
            <a:r>
              <a:rPr sz="975">
                <a:solidFill>
                  <a:srgbClr val="1D2A3D"/>
                </a:solidFill>
              </a:rPr>
              <a:t>1 tickets</a:t>
            </a:r>
          </a:p>
        </p:txBody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1EAEAC75-710A-409E-8392-6E4133135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5400675"/>
            <a:ext cx="5334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1D2A3D"/>
                </a:solidFill>
              </a:defRPr>
            </a:pPr>
            <a:r>
              <a:rPr sz="975">
                <a:solidFill>
                  <a:srgbClr val="1D2A3D"/>
                </a:solidFill>
              </a:rPr>
              <a:t>50.0%</a:t>
            </a:r>
          </a:p>
        </p:txBody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15A3BC7F-4672-447A-BBAA-BD2C928C1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562927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513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FBF245D4-4D1F-4899-B596-3AA126612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5591175"/>
            <a:ext cx="8763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526176"/>
                </a:solidFill>
              </a:defRPr>
            </a:pPr>
            <a:r>
              <a:rPr sz="975">
                <a:solidFill>
                  <a:srgbClr val="526176"/>
                </a:solidFill>
              </a:rPr>
              <a:t>60+ days</a:t>
            </a:r>
          </a:p>
        </p:txBody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60CFE1C0-3560-4EB6-9066-E23BCDCEF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5591175"/>
            <a:ext cx="8953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1D2A3D"/>
                </a:solidFill>
              </a:defRPr>
            </a:pPr>
            <a:r>
              <a:rPr sz="975">
                <a:solidFill>
                  <a:srgbClr val="1D2A3D"/>
                </a:solidFill>
              </a:rPr>
              <a:t>0 tickets</a:t>
            </a:r>
          </a:p>
        </p:txBody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D1045BDD-6AEB-45D8-B0A5-4FA11490E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5591175"/>
            <a:ext cx="5334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1D2A3D"/>
                </a:solidFill>
              </a:defRPr>
            </a:pPr>
            <a:r>
              <a:rPr sz="975">
                <a:solidFill>
                  <a:srgbClr val="1D2A3D"/>
                </a:solidFill>
              </a:rPr>
              <a:t>0.0%</a:t>
            </a:r>
          </a:p>
        </p:txBody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1B4E58FA-4988-48A7-98E1-EB759CF3F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00050"/>
            <a:ext cx="2628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>
                <a:solidFill>
                  <a:srgbClr val="0D6D6B"/>
                </a:solidFill>
              </a:defRPr>
            </a:pPr>
            <a:r>
              <a:rPr sz="1125">
                <a:solidFill>
                  <a:srgbClr val="0D6D6B"/>
                </a:solidFill>
              </a:rPr>
              <a:t>Repairer timing by claim value band</a:t>
            </a:r>
          </a:p>
        </p:txBody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886AEF2A-331E-4738-A8FE-FCDE54E62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4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3DFB88A3-6D47-4E68-9040-66CC49A19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7A8796"/>
                </a:solidFill>
              </a:defRPr>
            </a:pPr>
            <a:r>
              <a:rPr sz="825">
                <a:solidFill>
                  <a:srgbClr val="7A8796"/>
                </a:solidFill>
              </a:rPr>
              <a:t>Generated from ticket_timeline_summary.json</a:t>
            </a:r>
          </a:p>
        </p:txBody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4868F856-FED1-48D5-928D-F51F498A3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389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>
                <a:solidFill>
                  <a:srgbClr val="7A8796"/>
                </a:solidFill>
              </a:defRPr>
            </a:pPr>
            <a:r>
              <a:rPr sz="825">
                <a:solidFill>
                  <a:srgbClr val="7A8796"/>
                </a:solidFill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49925176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2026-07-24T04:48:26.7800000Z</dcterms:created>
  <dcterms:modified xsi:type="dcterms:W3CDTF">2026-07-24T04:48:26.7800000Z</dcterms:modified>
</coreProperties>
</file>