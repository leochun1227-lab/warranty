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8178fe99004412" /><Relationship Type="http://schemas.openxmlformats.org/officeDocument/2006/relationships/extended-properties" Target="/docProps/app.xml" Id="Re11ef54d4f874d67" /><Relationship Type="http://schemas.openxmlformats.org/officeDocument/2006/relationships/officeDocument" Target="/ppt/presentation.xml" Id="R8d7350310a204f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568de446f742c6"/>
  </p:sldMasterIdLst>
  <p:notesMasterIdLst>
    <p:notesMasterId xmlns:r="http://schemas.openxmlformats.org/officeDocument/2006/relationships" r:id="R4b7088ca1b854c68"/>
  </p:notesMasterIdLst>
  <p:sldIdLst>
    <p:sldId xmlns:r="http://schemas.openxmlformats.org/officeDocument/2006/relationships" id="256" r:id="Rb5e2977bee0347f6"/>
    <p:sldId xmlns:r="http://schemas.openxmlformats.org/officeDocument/2006/relationships" id="257" r:id="R72397cbb80bc47c4"/>
    <p:sldId xmlns:r="http://schemas.openxmlformats.org/officeDocument/2006/relationships" id="258" r:id="R7c3cc9ce753f4b0e"/>
    <p:sldId xmlns:r="http://schemas.openxmlformats.org/officeDocument/2006/relationships" id="259" r:id="R3b6fa0a7bfa64bc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86857df3004cd4" /><Relationship Type="http://schemas.openxmlformats.org/officeDocument/2006/relationships/slideMaster" Target="/ppt/slideMasters/slideMaster1.xml" Id="R0c568de446f742c6" /><Relationship Type="http://schemas.openxmlformats.org/officeDocument/2006/relationships/notesMaster" Target="/ppt/notesMasters/notesMaster1.xml" Id="R4b7088ca1b854c68" /><Relationship Type="http://schemas.openxmlformats.org/officeDocument/2006/relationships/presProps" Target="/ppt/presProps.xml" Id="R5eb68ab551304bf6" /><Relationship Type="http://schemas.openxmlformats.org/officeDocument/2006/relationships/tableStyles" Target="/ppt/tableStyles.xml" Id="R545be1da9c9b441c" /><Relationship Type="http://schemas.openxmlformats.org/officeDocument/2006/relationships/slide" Target="/ppt/slides/slide1.xml" Id="Rb5e2977bee0347f6" /><Relationship Type="http://schemas.openxmlformats.org/officeDocument/2006/relationships/slide" Target="/ppt/slides/slide2.xml" Id="R72397cbb80bc47c4" /><Relationship Type="http://schemas.openxmlformats.org/officeDocument/2006/relationships/slide" Target="/ppt/slides/slide3.xml" Id="R7c3cc9ce753f4b0e" /><Relationship Type="http://schemas.openxmlformats.org/officeDocument/2006/relationships/slide" Target="/ppt/slides/slide4.xml" Id="R3b6fa0a7bfa64b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e5a28fc2f641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ab6b630c0a45a3" /><Relationship Type="http://schemas.openxmlformats.org/officeDocument/2006/relationships/notesMaster" Target="/ppt/notesMasters/notesMaster1.xml" Id="Ra4b9354411cb40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af6262d4cf2491d" /><Relationship Type="http://schemas.openxmlformats.org/officeDocument/2006/relationships/notesMaster" Target="/ppt/notesMasters/notesMaster1.xml" Id="R8596201b5d9548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72eb4c7670458f" /><Relationship Type="http://schemas.openxmlformats.org/officeDocument/2006/relationships/notesMaster" Target="/ppt/notesMasters/notesMaster1.xml" Id="R94fe968d072343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e002658d7541ce" /><Relationship Type="http://schemas.openxmlformats.org/officeDocument/2006/relationships/notesMaster" Target="/ppt/notesMasters/notesMaster1.xml" Id="Rc737d161d8464b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de3a994bd144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e73efcf0274958" /><Relationship Type="http://schemas.openxmlformats.org/officeDocument/2006/relationships/slideLayout" Target="/ppt/slideLayouts/slideLayout1.xml" Id="Rb80d79f1d19b4e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0d79f1d19b4e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b4402f43a46a7" /><Relationship Type="http://schemas.openxmlformats.org/officeDocument/2006/relationships/notesSlide" Target="/ppt/notesSlides/notesSlide1.xml" Id="Refb972e6f8a14f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dafa71b6440be" /><Relationship Type="http://schemas.openxmlformats.org/officeDocument/2006/relationships/chart" Target="/ppt/slides/charts/chart1.xml" Id="R7496fd136aa449ab" /><Relationship Type="http://schemas.openxmlformats.org/officeDocument/2006/relationships/chart" Target="/ppt/slides/charts/chart2.xml" Id="Rb1b9b449baa04ea4" /><Relationship Type="http://schemas.openxmlformats.org/officeDocument/2006/relationships/chart" Target="/ppt/slides/charts/chart3.xml" Id="Re7fa05b884954f06" /><Relationship Type="http://schemas.openxmlformats.org/officeDocument/2006/relationships/chart" Target="/ppt/slides/charts/chart4.xml" Id="Re4c87f6ce7df4941" /><Relationship Type="http://schemas.openxmlformats.org/officeDocument/2006/relationships/notesSlide" Target="/ppt/notesSlides/notesSlide2.xml" Id="R5a02d03605a440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962da59d6f4163" /><Relationship Type="http://schemas.openxmlformats.org/officeDocument/2006/relationships/chart" Target="/ppt/slides/charts/chart5.xml" Id="R31aa60cfdc4c48a4" /><Relationship Type="http://schemas.openxmlformats.org/officeDocument/2006/relationships/chart" Target="/ppt/slides/charts/chart6.xml" Id="Rb3b5120400974a56" /><Relationship Type="http://schemas.openxmlformats.org/officeDocument/2006/relationships/chart" Target="/ppt/slides/charts/chart7.xml" Id="Rb05c3b21cc354361" /><Relationship Type="http://schemas.openxmlformats.org/officeDocument/2006/relationships/chart" Target="/ppt/slides/charts/chart8.xml" Id="R8ecbbbef72c64a20" /><Relationship Type="http://schemas.openxmlformats.org/officeDocument/2006/relationships/notesSlide" Target="/ppt/notesSlides/notesSlide3.xml" Id="R6db823c4dd3f4f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2a882679b64174" /><Relationship Type="http://schemas.openxmlformats.org/officeDocument/2006/relationships/chart" Target="/ppt/slides/charts/chart9.xml" Id="Rcf72037295914aca" /><Relationship Type="http://schemas.openxmlformats.org/officeDocument/2006/relationships/chart" Target="/ppt/slides/charts/chart10.xml" Id="Rbc0a8a470b1549b4" /><Relationship Type="http://schemas.openxmlformats.org/officeDocument/2006/relationships/chart" Target="/ppt/slides/charts/chart11.xml" Id="Refc8dc0994784679" /><Relationship Type="http://schemas.openxmlformats.org/officeDocument/2006/relationships/chart" Target="/ppt/slides/charts/chart12.xml" Id="R7fd24921ca0c445b" /><Relationship Type="http://schemas.openxmlformats.org/officeDocument/2006/relationships/notesSlide" Target="/ppt/notesSlides/notesSlide4.xml" Id="Rf17a10072e8b42a8" /></Relationships>
</file>

<file path=ppt/slides/charts/chart1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1218</c:v>
              </c:pt>
              <c:pt idx="1">
                <c:v>308</c:v>
              </c:pt>
              <c:pt idx="2">
                <c:v>209</c:v>
              </c:pt>
              <c:pt idx="3">
                <c:v>190</c:v>
              </c:pt>
              <c:pt idx="4">
                <c:v>380</c:v>
              </c:pt>
              <c:pt idx="5">
                <c:v>312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2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849</c:v>
              </c:pt>
              <c:pt idx="1">
                <c:v>307</c:v>
              </c:pt>
              <c:pt idx="2">
                <c:v>191</c:v>
              </c:pt>
              <c:pt idx="3">
                <c:v>176</c:v>
              </c:pt>
              <c:pt idx="4">
                <c:v>356</c:v>
              </c:pt>
              <c:pt idx="5">
                <c:v>295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3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139</c:v>
              </c:pt>
              <c:pt idx="1">
                <c:v>35</c:v>
              </c:pt>
              <c:pt idx="2">
                <c:v>18</c:v>
              </c:pt>
              <c:pt idx="3">
                <c:v>27</c:v>
              </c:pt>
              <c:pt idx="4">
                <c:v>61</c:v>
              </c:pt>
              <c:pt idx="5">
                <c:v>77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4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4</c:v>
              </c:pt>
              <c:pt idx="1">
                <c:v>3</c:v>
              </c:pt>
              <c:pt idx="2">
                <c:v>2</c:v>
              </c:pt>
              <c:pt idx="3">
                <c:v>0</c:v>
              </c:pt>
              <c:pt idx="4">
                <c:v>1</c:v>
              </c:pt>
              <c:pt idx="5">
                <c:v>15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5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358</c:v>
              </c:pt>
              <c:pt idx="1">
                <c:v>442</c:v>
              </c:pt>
              <c:pt idx="2">
                <c:v>195</c:v>
              </c:pt>
              <c:pt idx="3">
                <c:v>89</c:v>
              </c:pt>
              <c:pt idx="4">
                <c:v>141</c:v>
              </c:pt>
              <c:pt idx="5">
                <c:v>41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6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296</c:v>
              </c:pt>
              <c:pt idx="1">
                <c:v>469</c:v>
              </c:pt>
              <c:pt idx="2">
                <c:v>275</c:v>
              </c:pt>
              <c:pt idx="3">
                <c:v>187</c:v>
              </c:pt>
              <c:pt idx="4">
                <c:v>287</c:v>
              </c:pt>
              <c:pt idx="5">
                <c:v>104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7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19</c:v>
              </c:pt>
              <c:pt idx="1">
                <c:v>47</c:v>
              </c:pt>
              <c:pt idx="2">
                <c:v>34</c:v>
              </c:pt>
              <c:pt idx="3">
                <c:v>33</c:v>
              </c:pt>
              <c:pt idx="4">
                <c:v>57</c:v>
              </c:pt>
              <c:pt idx="5">
                <c:v>19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8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3</c:v>
              </c:pt>
              <c:pt idx="1">
                <c:v>4</c:v>
              </c:pt>
              <c:pt idx="2">
                <c:v>1</c:v>
              </c:pt>
              <c:pt idx="3">
                <c:v>1</c:v>
              </c:pt>
              <c:pt idx="4">
                <c:v>4</c:v>
              </c:pt>
              <c:pt idx="5">
                <c:v>2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9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92</c:v>
              </c:pt>
              <c:pt idx="1">
                <c:v>74</c:v>
              </c:pt>
              <c:pt idx="2">
                <c:v>48</c:v>
              </c:pt>
              <c:pt idx="3">
                <c:v>38</c:v>
              </c:pt>
              <c:pt idx="4">
                <c:v>98</c:v>
              </c:pt>
              <c:pt idx="5">
                <c:v>65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10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64</c:v>
              </c:pt>
              <c:pt idx="1">
                <c:v>65</c:v>
              </c:pt>
              <c:pt idx="2">
                <c:v>64</c:v>
              </c:pt>
              <c:pt idx="3">
                <c:v>50</c:v>
              </c:pt>
              <c:pt idx="4">
                <c:v>133</c:v>
              </c:pt>
              <c:pt idx="5">
                <c:v>79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11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7</c:v>
              </c:pt>
              <c:pt idx="1">
                <c:v>9</c:v>
              </c:pt>
              <c:pt idx="2">
                <c:v>4</c:v>
              </c:pt>
              <c:pt idx="3">
                <c:v>6</c:v>
              </c:pt>
              <c:pt idx="4">
                <c:v>9</c:v>
              </c:pt>
              <c:pt idx="5">
                <c:v>7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12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1</c:v>
              </c:pt>
              <c:pt idx="4">
                <c:v>1</c:v>
              </c:pt>
              <c:pt idx="5">
                <c:v>0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CB8817-2CAA-4396-A302-2AF367E1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8F8C"/>
                </a:solidFill>
              </a:defRPr>
            </a:pPr>
            <a:r>
              <a:rPr sz="900" b="1">
                <a:solidFill>
                  <a:srgbClr val="0F8F8C"/>
                </a:solidFill>
              </a:rPr>
              <a:t>2026 TICKET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889785-CEF4-4EBD-947C-87B7F90C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Price mix shows how ticket value relates to handling duration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F158F5-D247-43FC-B4CF-87BD39D2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7287"/>
                </a:solidFill>
              </a:defRPr>
            </a:pPr>
            <a:r>
              <a:rPr sz="1200">
                <a:solidFill>
                  <a:srgbClr val="647287"/>
                </a:solidFill>
              </a:rPr>
              <a:t>Each stage groups completed tickets by claim value, then shows the percentage of those tickets completed in each duration bucket.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B224E6-0466-4308-BB28-D6E9423B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6FE27E-240C-453B-AACE-485F4CC9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Warranty Approval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9489E9-A1FE-411F-9536-355993D2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2474A6"/>
                </a:solidFill>
              </a:defRPr>
            </a:pPr>
            <a:r>
              <a:rPr sz="1950">
                <a:solidFill>
                  <a:srgbClr val="2474A6"/>
                </a:solidFill>
              </a:rPr>
              <a:t>5,173 priced tickets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634985-8F8E-402E-81DF-7C2AB8178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Stage average: 24.8 days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A7FB76-D20C-4F4B-A998-7EDC29EB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Current standard: 25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9435D6-1F58-42F2-955B-6FA074CE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098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769EB1-BF88-4786-9193-E191ACAC9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1935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Parts Preparation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2F3D33-76AF-44D8-9786-78BA0C83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2474A6"/>
                </a:solidFill>
              </a:defRPr>
            </a:pPr>
            <a:r>
              <a:rPr sz="1950">
                <a:solidFill>
                  <a:srgbClr val="2474A6"/>
                </a:solidFill>
              </a:rPr>
              <a:t>3,108 priced tickets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D39959-2EE0-48BE-A18F-F881853E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7660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Stage average: 20.6 days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80CDAA-48A9-423C-BFE8-12D9E000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623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Current standard: 21 days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6E5B7E-245B-4228-AB39-DDC50CFD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098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CE45C9-D789-46B7-925C-9238AAD0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1935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Repairer Time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8AABBB-3132-42E8-B1C6-2A5EB858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5750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2474A6"/>
                </a:solidFill>
              </a:defRPr>
            </a:pPr>
            <a:r>
              <a:rPr sz="1950">
                <a:solidFill>
                  <a:srgbClr val="2474A6"/>
                </a:solidFill>
              </a:rPr>
              <a:t>914 priced tickets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C7EB9A-0A7A-4A60-8634-E24A2BD6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Stage average: 32.6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71471F-0B21-442B-AA6B-455E2E32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Current standard: 33 days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A8C77A-C026-4C45-A587-BCBC59E81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F5FA05-E318-42CA-9A11-BD4885780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Generated from ticket_timeline_summary.json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621D31-1984-4BB5-A2D8-22A2DA18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376573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460508EE-4A59-4AC2-81F3-D67F4560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8F8C"/>
                </a:solidFill>
              </a:defRPr>
            </a:pPr>
            <a:r>
              <a:rPr sz="900" b="1">
                <a:solidFill>
                  <a:srgbClr val="0F8F8C"/>
                </a:solidFill>
              </a:rPr>
              <a:t>2026 TICKET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D81683-FD9B-40DB-9E82-DCB78A00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Warranty Approval: duration mix by ticket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8CFCE-769F-4D69-A133-3C76974C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7287"/>
                </a:solidFill>
              </a:defRPr>
            </a:pPr>
            <a:r>
              <a:rPr sz="1200">
                <a:solidFill>
                  <a:srgbClr val="647287"/>
                </a:solidFill>
              </a:rPr>
              <a:t>5,173 priced tickets. Percentages are ticket-count share within each price band, not claim amount share.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11AB12-050C-4FB9-9EDC-24B58F3B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BBA0CC-8A83-484D-8D40-33F11C00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$0-500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D8DDD0-23A7-4356-AD19-4EA1FE37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2,617 tickets  /  avg 22.1 days</a:t>
            </a:r>
          </a:p>
        </p:txBody>
      </p:sp>
      <p:graphicFrame>
        <p:nvGraphicFramePr>
          <p:cNvPr id="126" name="Chart"/>
          <p:cNvGraphicFramePr/>
          <p:nvPr/>
        </p:nvGraphicFramePr>
        <p:xfrm>
          <a:off xmlns:a="http://schemas.openxmlformats.org/drawingml/2006/main" x="7810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496fd136aa449a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049F2B-A4A0-4AFF-A5CC-8D65B9AB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36E41A-4D57-498E-A71B-E36C8149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4ADA7E-59D7-4130-80F8-052DEBFEC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1,218 tickets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7C2973-F9B2-4C67-9D19-0A1844B7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46.5%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FB2226-9D1A-4C0A-96B2-8DEF0855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ADA86B-ADBC-4792-9AC4-0F29486F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41E753-F0A8-435D-BED5-566813EB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308 tickets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0347B7-6240-44E7-A6D0-0DE6000D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11.8%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C57E0B-BA99-4495-B08D-E2A2D0A6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94384-612F-4EBE-A8BF-B6D9D198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47484B-653A-4B48-A58E-C81C3FB2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209 tickets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7AC326-D8D8-437D-9D8C-64744756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8.0%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B63F91-5248-4C9E-8091-5635CCFF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8C477-E44A-4FCD-A13D-449B1C15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29CAB8-0A00-4BF9-8A20-125F7C44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190 tickets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905B9F-BCE4-4197-B38A-00B45740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7.3%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A88E6F-E63F-40D0-A69E-F4791C1A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6E2DDF-15E3-4A6C-85D7-CF8770CC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D8D197-270D-4D5F-B083-ABF13E44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380 tickets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BF3252-A85A-48DD-A37E-6A3C258F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14.5%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020E52-1436-46D1-8F20-935D033C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F65F8B-5DD6-4FE3-A82E-36C50583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B0DBA5-E0FC-497E-876B-B285B3D3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312 tickets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1BF183-269B-4800-B6A8-E7A00475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E06272-81AB-4211-8A78-75358059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670D01-18ED-467E-8E48-D4057895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$500-2k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D623E4-051F-4471-B309-ED9ABA20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2,174 tickets  /  avg 26.1 days</a:t>
            </a:r>
          </a:p>
        </p:txBody>
      </p:sp>
      <p:graphicFrame>
        <p:nvGraphicFramePr>
          <p:cNvPr id="154" name="Chart"/>
          <p:cNvGraphicFramePr/>
          <p:nvPr/>
        </p:nvGraphicFramePr>
        <p:xfrm>
          <a:off xmlns:a="http://schemas.openxmlformats.org/drawingml/2006/main" x="65341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b9b449baa04ea4"/>
          </a:graphicData>
        </a:graphic>
      </p:graphicFrame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817B98-7C1D-4F40-B9CB-2C44F261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8FE8304-28ED-4243-9808-7CAC1D2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86667E-5DB5-46D4-86B2-CF34646F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849 tickets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31E133-D2DA-4454-86E8-CE892383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39.1%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F510225-CC14-4F28-B370-3DBB6A16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C5D149-8FD2-4C60-87E2-4716EA8E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51523F7-C378-48EC-AF02-C27AEAC4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307 tickets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9954268-C694-490D-9068-B403CE65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14.1%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5517683-7ACF-40D9-8510-6B06C427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ED75842-CE4C-4C7B-85FE-D44A8D44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34223E6-A51A-40A5-BAA8-F6B2A2CB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191 tickets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536220D-85E4-4C21-BBE9-587BD95F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8.8%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E6802C8-CC29-433D-AD57-487BB192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C6DC717-4FB3-470D-B875-877FE0DA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C2D7F18-100C-4738-80E8-E22F86D4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176 tickets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626B10E-1A4A-425E-AA1A-70945510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8.1%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44322A9-BCA3-425F-96D0-64914D79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2B174E1-E1AC-4E88-BBFF-EBBBDFE1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CF16949-C510-45CF-8BCD-CBE1CBB3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356 tickets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30870E6-08AA-4A56-97F0-B51F4F6F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16.4%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940BEA4-845D-4578-A6CA-AAADDEA3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9B973D6-CC61-4268-8963-F3CA3513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29702D5-21DC-4BDF-904C-01EB02577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295 tickets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AD577E2-8A44-401B-A6A9-963C986C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13.6%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498A9CD-53B7-4A53-BB75-46B8841C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999D8C9-ED18-4477-B4DB-AD171E23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$2k-5k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0359A5A-8373-4040-8AB7-14FF2DF1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357 tickets  /  avg 34.0 days</a:t>
            </a:r>
          </a:p>
        </p:txBody>
      </p:sp>
      <p:graphicFrame>
        <p:nvGraphicFramePr>
          <p:cNvPr id="182" name="Chart"/>
          <p:cNvGraphicFramePr/>
          <p:nvPr/>
        </p:nvGraphicFramePr>
        <p:xfrm>
          <a:off xmlns:a="http://schemas.openxmlformats.org/drawingml/2006/main" x="7810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7fa05b884954f06"/>
          </a:graphicData>
        </a:graphic>
      </p:graphicFrame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AB6DA6F-0E4F-4429-85FF-A87610D2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C5A70A9-C82F-4C0E-97C9-7A704C0C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3F4AC3B-CAC8-4B21-A571-65D99B84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139 tickets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0C61CAD-B297-4C53-B9A6-4BE40AC3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38.9%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1175EF5-7B17-44E2-966A-7C0BC558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0596240-A9CF-4D99-8F9E-ED0FB284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8EAA16B-C135-4CAD-AC24-DB96C59E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35 tickets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2DDB580-8C73-4DCF-AADE-386D1333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9.8%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3D47704-D94A-4F17-8CCD-6AB945A1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3431812-C098-4AAE-9EB8-C59BC716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2D05892-13A8-4EEF-86E2-14E4135C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18 tickets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8F00E01-15B0-409F-B621-DE13F4D3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5.0%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6BBF034-2EE0-448A-A3FA-E0B83DFD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85B4479-49D4-490A-9015-7A17DC55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CC7C470-C55F-4903-AA64-8D0CED75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27 tickets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23C7DAD-8643-46A5-A3B2-91244FD6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7.6%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BCAD459-6813-4037-ABB4-4FE56F8D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8F8F4D6-8BA4-49A2-8696-F6C72483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2152D0C-B6AC-40E4-B64B-DC30D9CB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61 tickets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2D8C6EC-1132-4C75-B9F2-EDCA7706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17.1%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37C5BA4-4733-4152-B3AC-EB5A0FB6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B3DE86C-56A1-48ED-8FF3-0B130765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60D491E-68E8-454B-AD34-17FB22AC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77 tickets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FDF2919-A6AC-4829-A09B-1D9EF3F7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21.6%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18D86B9-E93E-42F2-A79B-8DE79CB9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C49CC2C-1927-496A-92D6-778B9B49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$5k+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15038F6-0108-4A0C-B7B1-A554F056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25 tickets  /  avg 68.0 days</a:t>
            </a:r>
          </a:p>
        </p:txBody>
      </p:sp>
      <p:graphicFrame>
        <p:nvGraphicFramePr>
          <p:cNvPr id="210" name="Chart"/>
          <p:cNvGraphicFramePr/>
          <p:nvPr/>
        </p:nvGraphicFramePr>
        <p:xfrm>
          <a:off xmlns:a="http://schemas.openxmlformats.org/drawingml/2006/main" x="65341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c87f6ce7df4941"/>
          </a:graphicData>
        </a:graphic>
      </p:graphicFrame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41FDBB2-8C9C-426E-B6DA-D1E76DF7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E52B68B-C336-49F5-88F7-31BB2AE3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0A0A66C-242C-4E9B-AA3C-B3773D99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 tickets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741D688-5CD0-428E-88BD-05AFC3E6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16.0%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D16D225-9A07-4B46-83D8-A81929FA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D05F389-5197-4E44-982B-85120299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9D30F2F-1496-4E1F-8A7F-B574E23C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 tickets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611E664-9A2F-4986-864E-80BA3A65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12.0%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5AB0254-82DF-454D-B203-348BE082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B51F218-4A08-4684-B2DE-A2ABCC8E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D6B5CBE-E79E-48AC-84F5-2670E800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 tickets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D96FE08-8DEC-4454-B98C-7A427875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8.0%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8349CF6-9439-46CC-B4F6-6E245587E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DEAC53B9-20DC-45F7-8BE9-A857FD76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A810BBBF-5D1C-4892-A1BA-AA2CC32E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 tickets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ADA0492-E270-4CF4-9F36-7C76DD1E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0.0%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9120F34-9E32-4FC0-BFE7-D84EA7AA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E5C1777-0670-4D4A-8863-B3CFD9AB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4803076D-220B-424A-816F-73B52B70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 tickets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099B21DB-D764-4459-BF39-7B1718CA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4.0%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B21B9718-C9B1-4355-A594-C96AC3AB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7E61FCD8-7D65-4AFC-AFF9-2F89AD67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6E5BE87-33EC-471D-8BDF-21D7F5C7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15 tickets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0A2C33A-480C-4480-8D18-1383666B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60.0%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74CC25D-AD62-4076-B247-E794D3BD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005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0D6D6B"/>
                </a:solidFill>
              </a:defRPr>
            </a:pPr>
            <a:r>
              <a:rPr sz="1125">
                <a:solidFill>
                  <a:srgbClr val="0D6D6B"/>
                </a:solidFill>
              </a:rPr>
              <a:t>Approval speed by claim value band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D67E988-5AEF-4925-AC5F-04C4C85C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C2A791ED-EF2D-4551-B4D8-9880C829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Generated from ticket_timeline_summary.json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70913508-E15E-4039-98EC-03DDB5C3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798288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72C975AD-A7B8-4D51-87F2-6CEB2A8B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8F8C"/>
                </a:solidFill>
              </a:defRPr>
            </a:pPr>
            <a:r>
              <a:rPr sz="900" b="1">
                <a:solidFill>
                  <a:srgbClr val="0F8F8C"/>
                </a:solidFill>
              </a:rPr>
              <a:t>2026 TICKET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E1B6A1-B811-4822-931A-9E09B77F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Parts Preparation: duration mix by ticket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C316BA-B15A-46A6-8397-EA6FD778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7287"/>
                </a:solidFill>
              </a:defRPr>
            </a:pPr>
            <a:r>
              <a:rPr sz="1200">
                <a:solidFill>
                  <a:srgbClr val="647287"/>
                </a:solidFill>
              </a:rPr>
              <a:t>3,108 priced tickets. Percentages are ticket-count share within each price band, not claim amount share.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6CA948-5180-40FC-B796-B86DC479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B58F5E-02D7-49D4-8CEF-42B90270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$0-500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E6EC5F-2050-4413-B917-4114D845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1,266 tickets  /  avg 16.8 days</a:t>
            </a:r>
          </a:p>
        </p:txBody>
      </p:sp>
      <p:graphicFrame>
        <p:nvGraphicFramePr>
          <p:cNvPr id="126" name="Chart"/>
          <p:cNvGraphicFramePr/>
          <p:nvPr/>
        </p:nvGraphicFramePr>
        <p:xfrm>
          <a:off xmlns:a="http://schemas.openxmlformats.org/drawingml/2006/main" x="7810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aa60cfdc4c48a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79CDC-07F1-49FD-978B-A2558A38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424177-1A64-44AD-8970-83B530EE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950D45-72BB-46AE-B13A-4D7A9DA4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358 tickets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8579CE-6C2F-41AE-84EA-02EC028C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28.3%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BA5D10-4614-4272-9CB4-A7D629A0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6A56DA-7298-4CB4-B326-A6BAB283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05FC84-E886-4EF0-9808-D8747C41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442 tickets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E1483E-40F6-46C6-9E90-45D7C652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34.9%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87B5F-7D07-4571-AE86-29B2128D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D67B02-247F-4264-8C67-13AD7252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01143A-AB0C-457B-A23D-306F4714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195 tickets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6FB25F-BB9F-42E3-8F1A-CD1CF61E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15.4%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71F067-4693-4D51-A0DD-CC656479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2BCF7-D798-467F-B3D2-D5D78948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B46EFB-7779-4D4C-81D8-0FDFA931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89 tickets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79C3CE-1187-47FD-AF5C-86B7C265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7.0%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6CC5E1-106E-4F12-8C66-B62BDD35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A4DA2E-6FC7-4389-BDA3-FE1E8133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E7FCA5-61D3-4B10-9BD5-F93C7681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141 tickets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366DD4-AAE9-4578-8FEC-B56EFFCC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11.1%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8F7B64-130F-4E95-9E28-77BA9B19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860905-BDC7-4C1F-933C-E76AB923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2C9009-B9E6-4447-88BA-0999BA3E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41 tickets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B90F2D-DF1C-460B-AB89-8490ACEA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3.2%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06BF0A-EA38-4C2A-B5C0-FB961401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1FF87B-8ABA-4713-ABBD-F6DF3BA4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$500-2k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7A76B7-931C-495A-A17A-54D7E1FC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1,618 tickets  /  avg 22.3 days</a:t>
            </a:r>
          </a:p>
        </p:txBody>
      </p:sp>
      <p:graphicFrame>
        <p:nvGraphicFramePr>
          <p:cNvPr id="154" name="Chart"/>
          <p:cNvGraphicFramePr/>
          <p:nvPr/>
        </p:nvGraphicFramePr>
        <p:xfrm>
          <a:off xmlns:a="http://schemas.openxmlformats.org/drawingml/2006/main" x="65341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b5120400974a56"/>
          </a:graphicData>
        </a:graphic>
      </p:graphicFrame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4F8158F-D818-4598-8362-07E21487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8C6209-9BFB-483A-9C79-51FEADB2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B6BEA5-4D9D-4D5F-B30B-469D2EE0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296 tickets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789006-D0CB-4578-93AC-AEBAB695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18.3%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9B4902-5A8B-4848-A919-E00048634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643521-0C39-4380-AE7E-00422C4B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F94062-30BD-418E-BE5E-F6076652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469 tickets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AB7FB95-C6BE-45BA-9502-2E38549A3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29.0%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04E80A-D07E-490A-A85F-7BA77223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0469E9C-8F61-48A6-853A-0E3AFBCD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E2EA4D7-9459-458B-A869-DB2BCCEA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275 tickets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6FCCCC6-0841-472F-A6EE-61E40253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17.0%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A42792D-2A96-4CA5-9570-3D8810E7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1036F3-C659-4930-A67E-F87470C0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0A43BC3-6A9F-4A8D-BB70-496F9F2E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187 tickets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04EC7A-2B91-45AE-95E3-2A85DC1C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11.6%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6A672BF-F74B-4A3F-9D4F-1FA640CE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CF48C6-10A0-47CA-B5FB-56485E49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E2414AF-B9E5-42BD-AFF7-270C75BFD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287 tickets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E294519-AAA0-4163-8F54-11DE4105C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17.7%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6AD31F7-8738-45FA-961C-47B3ED50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A64E73F-3C5B-4C99-A7A9-61A2E325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0468DA6-FEBE-46DE-9C82-9D4F0E4B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104 tickets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C97DF4B-5CB7-4CDE-8772-6CFD948C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6.4%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B6E8CF8-7BC8-43F4-BD3F-C7F9B02B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BC50671-3039-4BAB-98DF-27B3E979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$2k-5k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B087997-74C2-4ED3-AAEE-C8FE9849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209 tickets  /  avg 29.2 days</a:t>
            </a:r>
          </a:p>
        </p:txBody>
      </p:sp>
      <p:graphicFrame>
        <p:nvGraphicFramePr>
          <p:cNvPr id="182" name="Chart"/>
          <p:cNvGraphicFramePr/>
          <p:nvPr/>
        </p:nvGraphicFramePr>
        <p:xfrm>
          <a:off xmlns:a="http://schemas.openxmlformats.org/drawingml/2006/main" x="7810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5c3b21cc354361"/>
          </a:graphicData>
        </a:graphic>
      </p:graphicFrame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78836B3-BC64-40D1-955E-52527450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51870D8-C3B4-4367-A77F-EA27A73E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34283AC-8EA1-45D5-BBDB-C3EACA5B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19 tickets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A5CCEFD-6103-4718-BDB4-591B8EF98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9.1%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C175157-A7AC-4698-972A-9577A064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A58C76A-F465-44AE-8D9E-C533C8BE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4860966-4809-4A64-A917-D900CFA8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47 tickets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A75BB8E-1BD0-410F-B45D-404F4F02A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22.5%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F2F75B5-F455-4786-9F29-4EC9EDA0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4EB3679-6C5B-4DE2-80B0-968935D0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A4A832F-D2A9-41CC-8DBE-0D29F687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34 tickets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2EC90EF-E2A2-4C6D-B95B-7E5B4640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16.3%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6AC30FF-0FBC-470D-8F7D-C85F359E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1770970-D004-459C-A970-EDAAFEF1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E2CB97D-3A65-48DF-91F5-8B4F9765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33 tickets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4740B25-ECCB-4CE2-8C26-B75BC636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15.8%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411A7FE-31D9-472E-B456-3A6529BC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FC5D1A4-132B-4035-8ACA-24F1695D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F79C666-3A5B-4C7C-9CCF-086ECA88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57 tickets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644286A-F80E-4AC1-B615-2EEA9B0D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27.3%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7069AD4-F7D7-44C0-9208-5F5FFAB9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D0D80AE-37B4-4484-837F-79E8AC6A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F13C95E-353F-4C99-8318-64F905A4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19 tickets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E8D0737-448D-4CEA-8EE2-F40803DD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9.1%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0CF3420-7A70-4FB1-B66C-C6E35E428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C03A1B3-D62F-4A8D-9708-5A1FDAFC2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$5k+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5A2F299-5B8C-4D07-B3CE-49DEF0117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15 tickets  /  avg 36.7 days</a:t>
            </a:r>
          </a:p>
        </p:txBody>
      </p:sp>
      <p:graphicFrame>
        <p:nvGraphicFramePr>
          <p:cNvPr id="210" name="Chart"/>
          <p:cNvGraphicFramePr/>
          <p:nvPr/>
        </p:nvGraphicFramePr>
        <p:xfrm>
          <a:off xmlns:a="http://schemas.openxmlformats.org/drawingml/2006/main" x="65341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ecbbbef72c64a20"/>
          </a:graphicData>
        </a:graphic>
      </p:graphicFrame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9D6DB83-39F8-42F7-ACC4-58A15EF4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7524E7D-11D7-4684-ADF2-AEEC5D58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1B19D97-7031-4A6C-B8A5-60516C713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 tickets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F2CC0EE-83E6-4ED1-868E-5AFED7B1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20.0%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7201630-4BD5-4597-8343-8758CD51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141708F-BDD0-42A0-B067-0918FD1EC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840FA2C-1EA3-4717-8218-8697B4FE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 tickets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16F677E-2A40-4324-9F45-6EB7BC24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26.7%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463C0FA-014A-42A3-A0E9-8FDC8514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42E6248-A0BD-41C5-B136-5AA5CEEB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B8CE23F-341F-4841-B57A-6A48F7DE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 tickets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DDF927A-BD98-4BFE-87EB-4761FCBB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6.7%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4C698BB-A4E5-433E-9472-E647C9CF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21BBA740-1F0A-4FA4-8B6C-6F0F6BB7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71EDCF3-43C6-41F4-8992-F02B86AA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 tickets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F2BD5CC2-D24C-49DE-926A-2EC8C284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6.7%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86D353D9-4935-4B04-A41E-E372B78C3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86E85634-43ED-44A0-9088-F9623C9A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E4A4406-FB1B-4604-8BC4-E082EF42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 tickets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057BF0D-CB36-48FD-80B7-D59FE589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26.7%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F007F04-75B2-4BB8-96C9-E0892447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9AD5D3C-D140-490A-95DB-6570B1BC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B8B25E9-E5AD-4000-9EF9-950C4132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 tickets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2A5F5904-A9DB-4EB5-982F-B83CC96F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13.3%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53AE292-3473-4546-AD54-F5F2EF3B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005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0D6D6B"/>
                </a:solidFill>
              </a:defRPr>
            </a:pPr>
            <a:r>
              <a:rPr sz="1125">
                <a:solidFill>
                  <a:srgbClr val="0D6D6B"/>
                </a:solidFill>
              </a:rPr>
              <a:t>Parts preparation timing by claim value band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A97BA60-F2AC-46CF-90EB-0B01134F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3EFB2020-0D94-4D63-B739-96BAC4F0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Generated from ticket_timeline_summary.json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39E9BA0-F4C7-4224-B860-AC842828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139266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7E433CAA-008A-4834-B19E-A7F8172F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8F8C"/>
                </a:solidFill>
              </a:defRPr>
            </a:pPr>
            <a:r>
              <a:rPr sz="900" b="1">
                <a:solidFill>
                  <a:srgbClr val="0F8F8C"/>
                </a:solidFill>
              </a:rPr>
              <a:t>2026 TICKET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C5D3F8-33A3-49C2-9413-3C84626A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Repairer Time: duration mix by ticket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6309E-170E-489F-82BA-A71C839C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7287"/>
                </a:solidFill>
              </a:defRPr>
            </a:pPr>
            <a:r>
              <a:rPr sz="1200">
                <a:solidFill>
                  <a:srgbClr val="647287"/>
                </a:solidFill>
              </a:rPr>
              <a:t>914 priced tickets. Percentages are ticket-count share within each price band, not claim amount share.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4C4DD0-7D9E-4A70-8DBA-A2D7FF93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FCE6CD-061B-4464-91FD-39914805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$0-500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D572C2-B506-4BF7-A244-981529D1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415 tickets  /  avg 30.5 days</a:t>
            </a:r>
          </a:p>
        </p:txBody>
      </p:sp>
      <p:graphicFrame>
        <p:nvGraphicFramePr>
          <p:cNvPr id="126" name="Chart"/>
          <p:cNvGraphicFramePr/>
          <p:nvPr/>
        </p:nvGraphicFramePr>
        <p:xfrm>
          <a:off xmlns:a="http://schemas.openxmlformats.org/drawingml/2006/main" x="7810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f72037295914ac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5E058E-BA51-400F-A79C-F28D739C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712D4A-3AC5-48A8-8051-B363D83B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A07E83-F04C-407A-9502-E782F54D8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92 tickets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76F995-89D2-4657-9CA1-0A6A04B8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22.2%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A10ACA-F939-42C9-AC2A-8719373C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DA9860-A14E-4137-8D95-2087CDB8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62632C-6769-4C37-989F-1CCF80B6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74 tickets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C32440-AC40-4547-AF68-80895A25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17.8%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0C7A77-A7F3-4B88-94D7-541E4A3A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09C75A-5D61-4C53-BBCB-F6BCC2DC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203AF7-3DD4-4ACA-8393-761921DB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48 tickets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805F9B-318A-443C-843C-0CECFE03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11.6%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BC8B41-280C-405F-9478-D7C1024A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2F24EF-33DB-4CEF-BB86-C342BDFE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2B7ACC-A6C8-4B58-A995-B5E6C6F0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38 tickets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E50D68-D177-4F7A-A3AD-2B3D0B05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9.2%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F26503-21F0-43C2-AE21-AACD8699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9FB297-4F42-40D8-BC25-C269DEDE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BA40C8-8460-49B0-867F-9F756398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98 tickets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B5AAFA-18EF-4663-8735-49A80BFA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23.6%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D9D3EE-8343-4B3E-B2F3-04CE45A1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57CCB5-B6E5-4481-9F73-F8F80687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052E4B-8FEF-4D5E-81D5-10C102CE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65 tickets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460F6E-B2AB-4B0B-B4CD-5A0CC208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15.7%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8BBD982-402C-4CEB-B9B4-3DE392AC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860750-4EA9-4DF9-8BE9-6C5C6E5A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$500-2k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FA4027-BF0E-4226-BB05-D9D3E1ED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455 tickets  /  avg 34.7 days</a:t>
            </a:r>
          </a:p>
        </p:txBody>
      </p:sp>
      <p:graphicFrame>
        <p:nvGraphicFramePr>
          <p:cNvPr id="154" name="Chart"/>
          <p:cNvGraphicFramePr/>
          <p:nvPr/>
        </p:nvGraphicFramePr>
        <p:xfrm>
          <a:off xmlns:a="http://schemas.openxmlformats.org/drawingml/2006/main" x="65341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0a8a470b1549b4"/>
          </a:graphicData>
        </a:graphic>
      </p:graphicFrame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74E929-2849-418E-A223-D6F9AB42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1A2900-54F7-4002-A3C0-3277AD8D6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44BB062-DBDF-4A33-BFF9-9E5FFF2B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64 tickets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BC6ECF-FEEE-439A-914C-7DCDD5CA1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14.1%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343388-BAE1-4337-B244-A7EE4C1E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51980D-0C0B-4D9F-9D3B-C615ACD0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A2D89B4-B7FF-4536-A011-5798EC77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65 tickets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EC2FA93-E4FE-4EC7-BF54-83D56C97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14.3%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C47B6E-82E2-49F3-866A-AE8108C9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A599B6C-CB86-4171-8C14-61FD1A39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6C1FCEF-BA1C-47C6-98BE-A0E82815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64 tickets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491C160-FA6C-4C42-B85A-15B13CF1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14.1%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6856F40-4816-4D77-92AA-8FB9DD5A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37AB86B-00B6-4516-857F-5E36A8F8C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1EB2937-7218-4086-BA8E-9E4C7DF5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50 tickets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2DAE256-3A2F-4BD6-B490-FDC91EB9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0626BB8-6BA2-4A02-9069-AA316D9C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8238AE5-9524-46E8-B23B-003A2030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5F11FEF-633C-4350-8E6E-727E70D6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133 tickets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EFF0145-D6F5-44BC-A2BC-7A8DC3E6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29.2%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C07EE35-9C02-470F-870A-92D7C62F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A243025-F392-49B2-9762-5483CB20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0A99B3B-DB10-4787-8C40-460B2781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79 tickets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9D5D774-60EE-4161-85D8-3A41E266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17.4%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DF8388E-C838-4CCD-AC7B-89F6115D7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D62F998-7C82-488F-9EFA-8A1CA097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$2k-5k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EFC00EB-EA02-480E-859A-80FF03CD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42 tickets  /  avg 29.8 days</a:t>
            </a:r>
          </a:p>
        </p:txBody>
      </p:sp>
      <p:graphicFrame>
        <p:nvGraphicFramePr>
          <p:cNvPr id="182" name="Chart"/>
          <p:cNvGraphicFramePr/>
          <p:nvPr/>
        </p:nvGraphicFramePr>
        <p:xfrm>
          <a:off xmlns:a="http://schemas.openxmlformats.org/drawingml/2006/main" x="7810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fc8dc0994784679"/>
          </a:graphicData>
        </a:graphic>
      </p:graphicFrame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AAEDE0B-1A88-4DDC-899A-B6C0318A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E06AEB9-BC22-456A-97F7-DA48CBCF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3C3A2F1-C5E0-422A-9791-0B684B04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 tickets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768E62B-7F9D-48B7-947D-2C47A404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16.7%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C25D6A1-BDA7-4CC6-AB2E-B221AC0F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1C17AD0-A3E0-4C8C-AAB5-B2735576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7714D2B-27BF-41FE-BC08-D7F4A854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 tickets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7A8A2FF-08EE-45AE-8EFB-3FEA794F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21.4%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3C89317-6ED7-4C96-9696-AAE4AE80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9EBA36F-7A2E-4A14-8AD9-7358896E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E726C3B-4418-4FDB-A182-14F3E91B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 tickets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56DA4DA-AE53-4C96-9A43-70A1AA28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9.5%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F833D6E-8385-4C80-924B-E875FB2E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82CC75E-79F2-48F5-BEA2-3B78B328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9647ECD-F025-4B2D-865B-0C354D14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 tickets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1A1DA08-566A-4065-8BFA-9DAA857E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14.3%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699F8B9-6F54-4F70-83C6-A4E2BB7F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5ACCADB-D476-4C47-A4FE-E2104A85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D01964E-5D7E-438C-ADE0-FA482464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 tickets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DC156BA-2505-41D6-A603-7C2DFCD7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21.4%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F7D4F66-B5DC-42AC-9926-1AC50A368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B6DEC23-2ACB-4FE6-83A1-67C2FA3B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ADF7F41-D210-4C9F-834E-9849C48D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 tickets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0624887-D3AD-4486-9BDA-A6CCDA0B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16.7%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144D2AD-0379-4958-BABD-2D73E4D6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E1413A8-00BE-4F7A-B826-209FA9F4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$5k+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398D755-7448-48D8-BDE6-37040D93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2 tickets  /  avg 29.5 days</a:t>
            </a:r>
          </a:p>
        </p:txBody>
      </p:sp>
      <p:graphicFrame>
        <p:nvGraphicFramePr>
          <p:cNvPr id="210" name="Chart"/>
          <p:cNvGraphicFramePr/>
          <p:nvPr/>
        </p:nvGraphicFramePr>
        <p:xfrm>
          <a:off xmlns:a="http://schemas.openxmlformats.org/drawingml/2006/main" x="65341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d24921ca0c445b"/>
          </a:graphicData>
        </a:graphic>
      </p:graphicFrame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DA01EB9-DD41-4214-9267-64E9F5F5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2D31714-2FE3-4FBD-ACF8-7A23F0CE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ABB00F2-7D67-4554-9932-B364EE95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 tickets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55537FF-B787-4BA7-B49C-6647F8B8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0.0%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343E40A-E360-4317-934D-6BB245FD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EA98D10-0483-4C3B-A4EA-FEBFC807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3710713-70AD-467A-A392-CE8A2F40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 tickets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4E899A2-1919-4FAD-9804-FF012637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0.0%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9391922-755B-4316-889F-B66C45E04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59AF60B-15C2-4E9A-8158-4DB6F19B5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67841F9-0C09-4583-99C0-0E7DD076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 tickets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5B6B641-1C97-4BC8-8B89-D4C1C5A5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0.0%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95BF50A-31D5-4B0A-8729-1B791007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7D279AC7-22F6-4842-A82E-031570ED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42C97295-724F-4BE1-B936-D7704D21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 tickets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8A03A339-0733-4A3A-B09E-A11D85E62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50.0%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4A2CB9CD-BFC2-49C5-B07F-3C8A6EF6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4835006-EA1B-4EAB-B991-F9630CC9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5BF135A-3D81-4765-91E0-899D90B5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 tickets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67C192C-6F60-44CF-99F7-88F080F9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50.0%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928D23E-E746-4C37-9B21-38981012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7A0B32F7-487F-4CF6-9CC6-AD30B598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FE534FF8-40FD-415D-9273-4D7AFFC8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 tickets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17251BC-689B-4F6B-A95F-5D690FA5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0.0%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A685C670-870F-4BD0-B905-50527BC9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005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0D6D6B"/>
                </a:solidFill>
              </a:defRPr>
            </a:pPr>
            <a:r>
              <a:rPr sz="1125">
                <a:solidFill>
                  <a:srgbClr val="0D6D6B"/>
                </a:solidFill>
              </a:rPr>
              <a:t>Repairer timing by claim value band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AFA16DF-B471-4A60-8AFE-AF88F7B0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CB29148-8669-4E76-97B6-4524096F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Generated from ticket_timeline_summary.json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36F69958-4B0C-46D8-8F42-AE3B96B0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8235143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2026-07-22T05:49:45.7210000Z</dcterms:created>
  <dcterms:modified xsi:type="dcterms:W3CDTF">2026-07-22T05:49:45.7210000Z</dcterms:modified>
</coreProperties>
</file>