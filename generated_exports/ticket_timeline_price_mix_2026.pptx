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bc9f0c0ad84183" /><Relationship Type="http://schemas.openxmlformats.org/officeDocument/2006/relationships/extended-properties" Target="/docProps/app.xml" Id="R6eb1b516d25d42f6" /><Relationship Type="http://schemas.openxmlformats.org/officeDocument/2006/relationships/officeDocument" Target="/ppt/presentation.xml" Id="R3ffa18a698ea44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fe81a980334815"/>
  </p:sldMasterIdLst>
  <p:notesMasterIdLst>
    <p:notesMasterId xmlns:r="http://schemas.openxmlformats.org/officeDocument/2006/relationships" r:id="Racc9154a654d4eee"/>
  </p:notesMasterIdLst>
  <p:sldIdLst>
    <p:sldId xmlns:r="http://schemas.openxmlformats.org/officeDocument/2006/relationships" id="256" r:id="R04267ee192114db9"/>
    <p:sldId xmlns:r="http://schemas.openxmlformats.org/officeDocument/2006/relationships" id="257" r:id="Rea9e46adddc845df"/>
    <p:sldId xmlns:r="http://schemas.openxmlformats.org/officeDocument/2006/relationships" id="258" r:id="Rab478d781bb7423e"/>
    <p:sldId xmlns:r="http://schemas.openxmlformats.org/officeDocument/2006/relationships" id="259" r:id="Rf6aafddeca6a40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64ef41be38494d" /><Relationship Type="http://schemas.openxmlformats.org/officeDocument/2006/relationships/slideMaster" Target="/ppt/slideMasters/slideMaster1.xml" Id="Rd9fe81a980334815" /><Relationship Type="http://schemas.openxmlformats.org/officeDocument/2006/relationships/notesMaster" Target="/ppt/notesMasters/notesMaster1.xml" Id="Racc9154a654d4eee" /><Relationship Type="http://schemas.openxmlformats.org/officeDocument/2006/relationships/presProps" Target="/ppt/presProps.xml" Id="R23d88e5d574f426d" /><Relationship Type="http://schemas.openxmlformats.org/officeDocument/2006/relationships/tableStyles" Target="/ppt/tableStyles.xml" Id="R6284df9ac4df411b" /><Relationship Type="http://schemas.openxmlformats.org/officeDocument/2006/relationships/slide" Target="/ppt/slides/slide1.xml" Id="R04267ee192114db9" /><Relationship Type="http://schemas.openxmlformats.org/officeDocument/2006/relationships/slide" Target="/ppt/slides/slide2.xml" Id="Rea9e46adddc845df" /><Relationship Type="http://schemas.openxmlformats.org/officeDocument/2006/relationships/slide" Target="/ppt/slides/slide3.xml" Id="Rab478d781bb7423e" /><Relationship Type="http://schemas.openxmlformats.org/officeDocument/2006/relationships/slide" Target="/ppt/slides/slide4.xml" Id="Rf6aafddeca6a40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1cfefc83be42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0787773fb64f79" /><Relationship Type="http://schemas.openxmlformats.org/officeDocument/2006/relationships/notesMaster" Target="/ppt/notesMasters/notesMaster1.xml" Id="R4bdd87c02a1642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18175d18d842f8" /><Relationship Type="http://schemas.openxmlformats.org/officeDocument/2006/relationships/notesMaster" Target="/ppt/notesMasters/notesMaster1.xml" Id="Rf656becd71e242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54d32884d94427" /><Relationship Type="http://schemas.openxmlformats.org/officeDocument/2006/relationships/notesMaster" Target="/ppt/notesMasters/notesMaster1.xml" Id="Rc955b47d306745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c41518c75b48fb" /><Relationship Type="http://schemas.openxmlformats.org/officeDocument/2006/relationships/notesMaster" Target="/ppt/notesMasters/notesMaster1.xml" Id="Ra6e5a3c153b747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bf07b22c0944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dca0d9330a48a9" /><Relationship Type="http://schemas.openxmlformats.org/officeDocument/2006/relationships/slideLayout" Target="/ppt/slideLayouts/slideLayout1.xml" Id="R7be6cc88d1e942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e6cc88d1e942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c73f7d79741ee" /><Relationship Type="http://schemas.openxmlformats.org/officeDocument/2006/relationships/notesSlide" Target="/ppt/notesSlides/notesSlide1.xml" Id="R72bf3f0c7ea442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84dadd5634158" /><Relationship Type="http://schemas.openxmlformats.org/officeDocument/2006/relationships/chart" Target="/ppt/slides/charts/chart1.xml" Id="R0a735f9d15c74d11" /><Relationship Type="http://schemas.openxmlformats.org/officeDocument/2006/relationships/chart" Target="/ppt/slides/charts/chart2.xml" Id="R08b464645c5248b1" /><Relationship Type="http://schemas.openxmlformats.org/officeDocument/2006/relationships/chart" Target="/ppt/slides/charts/chart3.xml" Id="R0a68c5e4fda54dc0" /><Relationship Type="http://schemas.openxmlformats.org/officeDocument/2006/relationships/chart" Target="/ppt/slides/charts/chart4.xml" Id="Rbdb0347ab1b7422a" /><Relationship Type="http://schemas.openxmlformats.org/officeDocument/2006/relationships/notesSlide" Target="/ppt/notesSlides/notesSlide2.xml" Id="R5676d187dc364e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e6c9009a9464e" /><Relationship Type="http://schemas.openxmlformats.org/officeDocument/2006/relationships/chart" Target="/ppt/slides/charts/chart5.xml" Id="Rb365dcacee974621" /><Relationship Type="http://schemas.openxmlformats.org/officeDocument/2006/relationships/chart" Target="/ppt/slides/charts/chart6.xml" Id="R90545a9efdcf4bcc" /><Relationship Type="http://schemas.openxmlformats.org/officeDocument/2006/relationships/chart" Target="/ppt/slides/charts/chart7.xml" Id="R15a910eee77d47b2" /><Relationship Type="http://schemas.openxmlformats.org/officeDocument/2006/relationships/chart" Target="/ppt/slides/charts/chart8.xml" Id="R6c78c71140b84a4b" /><Relationship Type="http://schemas.openxmlformats.org/officeDocument/2006/relationships/notesSlide" Target="/ppt/notesSlides/notesSlide3.xml" Id="R0f5792dd496b47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925907b2d4724" /><Relationship Type="http://schemas.openxmlformats.org/officeDocument/2006/relationships/chart" Target="/ppt/slides/charts/chart9.xml" Id="Rf424bfae5a2e45d4" /><Relationship Type="http://schemas.openxmlformats.org/officeDocument/2006/relationships/chart" Target="/ppt/slides/charts/chart10.xml" Id="R1b4f5f85fd414c3b" /><Relationship Type="http://schemas.openxmlformats.org/officeDocument/2006/relationships/chart" Target="/ppt/slides/charts/chart11.xml" Id="Ref4fe60ade274b57" /><Relationship Type="http://schemas.openxmlformats.org/officeDocument/2006/relationships/chart" Target="/ppt/slides/charts/chart12.xml" Id="R5cae6b109ce84bff" /><Relationship Type="http://schemas.openxmlformats.org/officeDocument/2006/relationships/notesSlide" Target="/ppt/notesSlides/notesSlide4.xml" Id="R0f0d1a1f248f46e1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1218</c:v>
              </c:pt>
              <c:pt idx="1">
                <c:v>308</c:v>
              </c:pt>
              <c:pt idx="2">
                <c:v>209</c:v>
              </c:pt>
              <c:pt idx="3">
                <c:v>190</c:v>
              </c:pt>
              <c:pt idx="4">
                <c:v>380</c:v>
              </c:pt>
              <c:pt idx="5">
                <c:v>312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849</c:v>
              </c:pt>
              <c:pt idx="1">
                <c:v>307</c:v>
              </c:pt>
              <c:pt idx="2">
                <c:v>191</c:v>
              </c:pt>
              <c:pt idx="3">
                <c:v>176</c:v>
              </c:pt>
              <c:pt idx="4">
                <c:v>356</c:v>
              </c:pt>
              <c:pt idx="5">
                <c:v>295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3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139</c:v>
              </c:pt>
              <c:pt idx="1">
                <c:v>35</c:v>
              </c:pt>
              <c:pt idx="2">
                <c:v>18</c:v>
              </c:pt>
              <c:pt idx="3">
                <c:v>27</c:v>
              </c:pt>
              <c:pt idx="4">
                <c:v>61</c:v>
              </c:pt>
              <c:pt idx="5">
                <c:v>77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4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4</c:v>
              </c:pt>
              <c:pt idx="1">
                <c:v>3</c:v>
              </c:pt>
              <c:pt idx="2">
                <c:v>2</c:v>
              </c:pt>
              <c:pt idx="3">
                <c:v>0</c:v>
              </c:pt>
              <c:pt idx="4">
                <c:v>1</c:v>
              </c:pt>
              <c:pt idx="5">
                <c:v>15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5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358</c:v>
              </c:pt>
              <c:pt idx="1">
                <c:v>442</c:v>
              </c:pt>
              <c:pt idx="2">
                <c:v>195</c:v>
              </c:pt>
              <c:pt idx="3">
                <c:v>89</c:v>
              </c:pt>
              <c:pt idx="4">
                <c:v>141</c:v>
              </c:pt>
              <c:pt idx="5">
                <c:v>41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6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296</c:v>
              </c:pt>
              <c:pt idx="1">
                <c:v>469</c:v>
              </c:pt>
              <c:pt idx="2">
                <c:v>275</c:v>
              </c:pt>
              <c:pt idx="3">
                <c:v>187</c:v>
              </c:pt>
              <c:pt idx="4">
                <c:v>287</c:v>
              </c:pt>
              <c:pt idx="5">
                <c:v>104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7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19</c:v>
              </c:pt>
              <c:pt idx="1">
                <c:v>47</c:v>
              </c:pt>
              <c:pt idx="2">
                <c:v>34</c:v>
              </c:pt>
              <c:pt idx="3">
                <c:v>33</c:v>
              </c:pt>
              <c:pt idx="4">
                <c:v>57</c:v>
              </c:pt>
              <c:pt idx="5">
                <c:v>19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8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3</c:v>
              </c:pt>
              <c:pt idx="1">
                <c:v>4</c:v>
              </c:pt>
              <c:pt idx="2">
                <c:v>1</c:v>
              </c:pt>
              <c:pt idx="3">
                <c:v>1</c:v>
              </c:pt>
              <c:pt idx="4">
                <c:v>4</c:v>
              </c:pt>
              <c:pt idx="5">
                <c:v>2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9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92</c:v>
              </c:pt>
              <c:pt idx="1">
                <c:v>74</c:v>
              </c:pt>
              <c:pt idx="2">
                <c:v>48</c:v>
              </c:pt>
              <c:pt idx="3">
                <c:v>38</c:v>
              </c:pt>
              <c:pt idx="4">
                <c:v>98</c:v>
              </c:pt>
              <c:pt idx="5">
                <c:v>65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0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64</c:v>
              </c:pt>
              <c:pt idx="1">
                <c:v>65</c:v>
              </c:pt>
              <c:pt idx="2">
                <c:v>64</c:v>
              </c:pt>
              <c:pt idx="3">
                <c:v>50</c:v>
              </c:pt>
              <c:pt idx="4">
                <c:v>133</c:v>
              </c:pt>
              <c:pt idx="5">
                <c:v>79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7</c:v>
              </c:pt>
              <c:pt idx="1">
                <c:v>9</c:v>
              </c:pt>
              <c:pt idx="2">
                <c:v>4</c:v>
              </c:pt>
              <c:pt idx="3">
                <c:v>6</c:v>
              </c:pt>
              <c:pt idx="4">
                <c:v>9</c:v>
              </c:pt>
              <c:pt idx="5">
                <c:v>7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charts/chart1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Tickets</c:v>
          </c:tx>
          <c:dPt>
            <c:idx val="0"/>
            <c:spPr>
              <a:solidFill xmlns:a="http://schemas.openxmlformats.org/drawingml/2006/main">
                <a:srgbClr val="0F8F8C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4F8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2474A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D88A18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F9F42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C9513F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6"/>
              <c:pt idx="0">
                <c:v>0-7 days</c:v>
              </c:pt>
              <c:pt idx="1">
                <c:v>8-14 days</c:v>
              </c:pt>
              <c:pt idx="2">
                <c:v>15-21 days</c:v>
              </c:pt>
              <c:pt idx="3">
                <c:v>22-30 days</c:v>
              </c:pt>
              <c:pt idx="4">
                <c:v>31-60 days</c:v>
              </c:pt>
              <c:pt idx="5">
                <c:v>60+ days</c:v>
              </c:pt>
            </c:str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1</c:v>
              </c:pt>
              <c:pt idx="4">
                <c:v>1</c:v>
              </c:pt>
              <c:pt idx="5">
                <c:v>0</c:v>
              </c:pt>
            </c:numLit>
          </c:val>
        </c:ser>
        <c:firstSliceAng val="270"/>
        <c:holeSize val="58"/>
      </c:doughnutChart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E34564-7F8E-4580-9411-BD7301F5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909E60-2C2A-4A74-8174-0C74B1A0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Price mix shows how ticket value relates to handling duration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DDDA4-C7E7-4732-8954-E6E50642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Each stage groups completed tickets by claim value, then shows the percentage of those tickets completed in each duration bucket.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EEBB7-2197-40F2-989D-7313059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38A13-229A-410D-B654-733CEE6C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Warranty Approval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896AE-547D-41C0-88E7-8B0F42BB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5,173 priced tickets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2D2AD-C894-41F3-B7B2-B98B8B11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24.8 days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D4913-F46C-4BF7-BA3A-6AE6362A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25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B3BD4-FB2B-4CB0-BB3E-D51F07CF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863E8-7731-4076-BC42-F908F2D8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Parts Preparation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713023-9C67-4F27-8AA2-3F3856B7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3,108 priced 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36867-4C18-438A-AD25-8EFA7190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20.6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18DF4-8DCB-46CF-82F3-7D10CBA0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21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F66BC-81AC-45DA-9E5B-1249EAD2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AEAE35-7584-4D8E-ACB8-A4209128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1935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Repairer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A514E5-C3E6-4B09-99C2-25DE3DCF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474A6"/>
                </a:solidFill>
              </a:defRPr>
            </a:pPr>
            <a:r>
              <a:rPr sz="1950">
                <a:solidFill>
                  <a:srgbClr val="2474A6"/>
                </a:solidFill>
              </a:rPr>
              <a:t>914 priced tickets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1C7A72-B90B-4567-A184-19664163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Stage average: 32.6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7AB3A-F56D-45D2-B61B-31C9FAEC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6176"/>
                </a:solidFill>
              </a:defRPr>
            </a:pPr>
            <a:r>
              <a:rPr sz="1200">
                <a:solidFill>
                  <a:srgbClr val="526176"/>
                </a:solidFill>
              </a:rPr>
              <a:t>Current standard: 33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A2C85-09F9-474F-9A45-400BA11B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3B47AA-E170-4F86-84BF-BE20026F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DA3AF6-517B-41DA-A4DA-BA6B446B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56318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308FFAE-B58C-4FA4-A2CC-543D8409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BEFDF-EE25-4438-A4BB-2C7A3037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Warranty Approval: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59CB5-BBF8-4227-8390-96D65C09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5,173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30FD6-3A4A-400E-89A1-2266655E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60AD8-954F-45A0-8F16-5F30D799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16A4A-5865-4E17-B0C5-8E7CFF7E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2,617 tickets  /  avg 22.1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735f9d15c74d1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533FB-23CE-4A9C-820E-AF6ED567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6DA89-EF88-41EB-8113-4A3649EB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F4996-4A29-4DBA-8E40-BAED5C96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1,218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1D3D59-C406-4CD4-B6EC-CA6BF204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46.5%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F23FC-F99A-429E-BC88-440AE436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F0A2E-5484-4F43-90D7-FD92FDD1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D95D88-82FB-4455-A025-500EE60B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308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30006-B47B-4E4B-A1F5-B2037A4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11.8%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A6FD4-BFC8-4548-AC72-C25FD0DA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C6A58-353E-46A2-AB50-D221C46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54325-69C7-40C5-B1BE-A0271CEE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209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483B0-9140-42D1-A3D9-FC370264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1DA9AF-8B31-4182-8E5A-D980E8DF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8ADA02-34FA-4024-BB44-F950BDB7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92FDD-B999-41D7-97FE-56272692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190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F4D3D4-ED54-4591-A497-B86A2745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8ECFB-0BB7-4D35-BAFB-74921C26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676EA8-F5C9-48D6-BFDE-333DADF1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D86497-4EF1-4A59-965C-D8E9C32C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380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F79D82-04B0-4727-9E00-DA271F29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201237-7F5F-4D7D-9A92-ED106DFD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BEFFC-9330-4347-BE7F-9806F675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E01606-1DFF-4304-975A-169BC5CC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312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54386C-BE9F-4FCD-83A4-CD224542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EE8525-7904-4938-B8C3-A83CF684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49343C-34E3-4F4D-90A1-CF69D058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55586F-675E-4033-BB26-51B9FF4F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2,174 tickets  /  avg 26.1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b464645c5248b1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4CCBDE-FB39-4784-B8D7-52D45867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D1B5C6-CF6B-4233-BA77-C31E0749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2FB42A-683A-4BCD-8980-3913090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849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BC78E7-3AD4-45C9-90C8-4041F546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39.1%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97919C-9470-48D6-A8C8-44FB0A73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F9B79C-32B1-4C14-AE07-889C5CE4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CCB642-348B-41BC-A716-F67C8C2F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307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4A332B-6955-4C3F-85AB-B00AEA51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35CAD58-D229-4A19-A924-AB9E240A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4CD809-104E-41CA-8288-9E0852F7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630511-E552-410F-801E-0F928D56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191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70D1CB-EA1A-45D9-9ED3-C21E327E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8.8%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3D15F0-59A8-4B27-839F-31472DEC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A23E75-A39A-4721-9559-34AE60D4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90C31E-B470-4F94-8251-7C671F34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176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EBAC9CC-190E-4E0B-A8AB-F924E32D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D82916-E012-4E54-9EBA-9993D0B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5D17AD-472D-4001-BE23-81AB6D9B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68CD70-94E3-4961-8794-7CF987EF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356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B35B1A-BC0A-496B-A32F-27A8236E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16.4%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7A28BB0-BECA-4B25-8684-B6142C76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6F80AB-3DBC-4506-B24C-771136A9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FBCB4E-7DE6-4DC9-9B70-59A9C5C3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295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2E7C43-59B6-4CA6-94A5-20304D93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13.6%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058B36-BA77-489B-8A23-824D41F8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2DFB86-4838-43E4-8FAA-EB8178BE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DA1E6F2-C115-4E4A-A6A2-81769B8F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357 tickets  /  avg 34.0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68c5e4fda54dc0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55A142-9398-430A-B3E6-8C0F3394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0FA245-73E1-4011-9FF0-9E79E710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542C95B-8CF9-407F-A6BE-3784039C4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139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403B738-975A-4A79-9E08-FDC1E1F3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38.9%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2FE3F8-3CC9-4668-9673-49AAF3F7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2AE98D2-94B1-4520-B2DE-64E1524C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B750F1A-593C-44DD-BE1F-88451EE3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0B2FABF-8075-4A77-A847-873D50C6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2E1575-D0B5-48C4-B574-2352C0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CB3171-5F6E-4C56-A3F9-20EDDCE9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3CA8270-DA68-4CE9-95A2-3B7FD1D1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9EC3369-2789-45F3-8192-BC159202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5.0%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505185E-FF2B-4C06-8F59-FD401998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7A5CEF1-19C9-4815-A209-0ED238D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DBD41F7-B3BF-49FD-A427-85399F30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A395CEF-BE8E-4ABF-AA41-118D3DDE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7.6%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B5C7D77-9291-47AA-A4CE-2D988059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537EC5E-9519-44EF-8ECE-101377D0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32CF66F-C294-4E2D-9AF7-A2CEFFBD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61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3D0304D-4F19-4D7A-97D5-71E67FF8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17.1%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6AC3084-B931-4AC8-AE7B-5427C106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565D9E8-DB9B-4232-9BB3-E81D4370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6954442-4FB1-40B2-8173-8F50CCC0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77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F04CB1D-9C0D-4640-9840-554EC494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21.6%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FFA486E-6937-48AA-954F-0DDC754B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2BD3E0D-7E00-4896-AE58-3F95A8E2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D457773-6444-46AF-B080-57C71CD0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25 tickets  /  avg 68.0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b0347ab1b7422a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806B8F0-3317-42A8-BDBA-715B1720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36CD2DE-122A-45F6-BDA8-F02F19A0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52E0EFC-CB78-4876-B460-1A0E5BD1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F79FEBA-6957-4A86-854C-A4D9F697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19E1433-4030-43C8-8BCE-8E0987AC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D434F33-E64D-4C9B-8DFC-C26A885F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E95FC16-4ACF-4442-B44E-2A572347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33FB748-EB3B-4011-B2CA-C6019EE5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12.0%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F34D89E-5154-46D3-AAA5-1AD3E3A2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452C0A-114A-4EC2-B74B-35A2556E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5DEFB4E-5C41-44D2-B397-51B00DAB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B4F0452-5DFB-4819-8ABA-6F6C0F6D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60613CD-FF99-41EE-8688-FCAFA6EA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827B9DD-417F-40D7-80B7-0C274CBA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3C28438-4E81-44E3-9C86-1CC96459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8F11DA9-1AD7-4730-8FF1-C0FEA8A3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DBAE5A9-B3F6-451D-B0B5-D6592640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CBD4479-447D-460B-B957-EC8F0B9A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14F495A-789B-4C7C-8FDE-73F4EB3C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DE3628E-D91A-441C-A338-84D09D69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3184752-8AE9-4714-ADC8-B535F097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9C1234B-C30D-4957-8A8D-28F524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97DE330-0C06-44B7-A6B1-42CA69FF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51FCA76-06D6-4B8B-B9FA-5FF761C9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60.0%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60CF63F-C33D-43DA-905B-6DB53E1F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Approval speed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5EF48E1-DFAF-4B37-9E07-4188219C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8395597-91FB-44DF-A584-E5542EF8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DAB3D4A-B1EB-4A71-84BC-F26359A5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514263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1EB1874-E354-4519-8661-00F29FE7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D03E3-184D-408A-803B-E69830E4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Parts Preparation: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56BB9-4843-4152-9227-D1C532D9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3,108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4F419-D093-4765-8E4F-3387E233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3EF32-D085-4118-8A56-2C761764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A978E-15BB-4E3E-9DCD-F7F06489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1,266 tickets  /  avg 16.8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65dcacee97462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DCBAA-19B2-4F22-8A3F-73560B4A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F081A-13F6-4135-B010-996ADADD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A4E50-F0C2-4F3F-9EA0-C1696F9B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358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7CFDB-1396-49D1-B1EC-64248BDB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28.3%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A7A6F-ACE7-4A90-9D2E-B1A8D046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CFE506-47A3-4226-A911-8AF29957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8BC27-F7A2-44D4-9603-BF184EAC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442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60A7F-26B9-4EA1-8409-9703F390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34.9%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C13A3C-964C-4698-8005-92CC3FE5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9E0D3-C426-4840-874D-DD8452A0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34957E-335A-4C52-A2A3-576B4FFA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195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ECE343-E6B5-4491-8D81-6863D298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5D189A-7D92-45FC-BCAB-034BCC22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014996-6683-4521-8DDE-E49CE8A9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5EACE8-DACB-4389-A76D-1B0C89C9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89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9495B-D3AA-4FE9-90D8-99CFA70C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BD6EB-984C-4293-892C-67B394E6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26940-650C-4516-9455-A11295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DD57F-851A-471F-A373-D9C67AC0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141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7D69FF-3331-4134-86ED-D893D453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565A57-A01D-49EC-9F7C-B7C04692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F655DA-2A8E-47A7-822D-FB76B37B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337B-44FE-477D-A3D0-59BE5E82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41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82E07A-015A-4675-9BF3-C0064BD1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3.2%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68AA98-0E23-493B-8BC8-01CA332E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ADD450-7FB6-406A-AC4A-EA987FC0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BCF56E-BA06-4018-8560-28BEFB57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1,618 tickets  /  avg 22.3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545a9efdcf4bcc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5FA833-1362-408C-9C62-31DDDD73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A18A79-ABE1-474C-8BBB-34189AFA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CF0D24-FFBD-497D-A181-48B6AD46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296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9148BD-AF92-4281-8215-15B390B7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18.3%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7E2DCC-5425-4D84-994B-EB4F3FF4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33AD55-B59F-4951-9A93-CAA83693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908385-8ED4-4A52-B0A3-26F47C06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469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C2B3AF-3324-4D19-ABD9-A2830A0C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952D95-E862-4511-8091-059D1332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9B2C85-7001-480A-B251-7C8E92F3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20A7AB-7183-4659-8E53-9B5B8A62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275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C2B1C03-B321-44EC-99F9-D531A4B0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45257A-35CC-40D3-AC08-F3179989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0336E2-78C5-4F26-9F36-F73CEF25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A6C9BD-F3C7-4153-B8D8-3BFB260E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187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F102816-E451-43D0-8010-5063CDBB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945ED9-B219-44D5-A890-CA8F13B8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B43D25-7E4B-46E9-AFEC-FC3E3856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7B209E-83F6-447D-8C14-B21D9FC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287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78A394-DA1E-4E13-9AF1-9DF21C89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17.7%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33311E-ED28-4981-AAAF-AE1615EC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4990246-D750-42F5-AD37-4B988986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9BE628D-46DD-4E27-BE27-89427556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104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6E9CA6-98AF-4E83-9667-9B37C125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6.4%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589FDFB-484E-4DD1-91C7-8B1460C8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9B40A98-0997-4AA8-BE72-B4970E9A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03265B-AF24-4DE3-B259-9A3BE60F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209 tickets  /  avg 29.2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a910eee77d47b2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4286C9C-4DEB-4DC6-B456-1D0C353E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BEE485-7B98-4279-87E6-994D22D7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D4505D-7296-4746-9BD6-E4C7840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F2F0FA7-0473-4745-BCEC-9B8F782D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9.1%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CE97B9E-273E-40AF-8F58-4B2B9F5D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49CCD58-5324-43FC-83B8-39E8AD65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C606EB-F6F1-4F54-A944-D6561073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47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581FCF7-A417-40C7-B543-2A91B1AA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22.5%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C3F2D6-D1C7-49AE-AFA9-42417508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F8708C2-C6AD-468E-B886-63C731A7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676AD46-C9A9-4239-93B9-8B5FEC2C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34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AD1D6FE-E81E-4629-9C57-129F4062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1E76FBE-FE3F-45DF-991B-4B415F2F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627D55-DBAC-4E2E-814A-58B9014A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A2FAE62-3DA9-4957-8C27-8888EAB2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33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0F19D29-0361-4CD0-8DE5-B10753B5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15.8%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A589ED6-0CC3-4E7F-94FB-4E22E70F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D0E6C09-8B4D-403E-8133-A5A16AD1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6A2B487-5AA2-4316-9F61-5A49EE6E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57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B800A2D-E938-43BD-8803-065A38C2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27.3%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0AA355C-A9BA-46C6-B4A1-06039BA7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19C0334-CA55-4C95-A9BC-02EC149E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21406BF-E066-4CEC-9E82-819A1540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19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4C7F834-036D-4D26-AF39-9EE3E619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0C6C6A6-6870-4B7D-ACF6-3D83C8B3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0C05698-5E51-413C-88C9-D33654B0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9AFBCE5-088D-48B4-A108-C2C2D0A5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15 tickets  /  avg 36.7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78c71140b84a4b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5627531-816D-4ACD-8453-F894AA9E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9479228-4F3F-4844-8012-2CF10441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5A05279-3CB8-4665-BDF8-7D9FB82E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47B6C66-C0F4-4473-8732-2DFD230A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20.0%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2723246-892F-4081-9740-EB99794A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06D99A9-D0BB-4A74-B7B5-9143521B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63146B9-B142-42DE-9ACC-75BEF7C8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5383A0F-EFB6-43D5-B05A-00E8DA7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26.7%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5A4CA82-92DB-49E1-BCCF-09B1F53B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9878D74-87C4-46A9-94E9-E0938F41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7F47573-F29F-45D1-AA20-EC43F70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6A971CD-2BF1-4099-8569-EC93A7AA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6.7%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EB45B71-0341-4B4D-A809-E367E597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A6D9820-AAB2-4DD1-A83B-C22DDCA2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F88E697-9D02-4D03-ABAE-430F9B25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B154A63-6023-46F5-9144-B92EC746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6.7%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BA2152B-A205-41A9-8351-9B581BB1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01BC489-8463-4570-93A6-1AC56C4A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C40F82E-D7BD-4757-93DB-23BCB409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B182FF5-FCD9-48AB-8010-EAB741DF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26.7%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34785EF-841E-44C5-9551-85684103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AE66304-DDF8-45AC-A050-D58DEF2A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F369095-DD71-4E8E-9C95-A67B43D2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55D29FA-3CD9-475B-9693-D87433B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13.3%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F0F107C-F68E-4E0D-9E15-A7207CD1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Parts preparation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FE27891-FE21-4A74-8B3B-C4169CBB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873B12C-3924-470C-A47F-7044F758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1E4570F-BCE1-45B6-B100-F16079F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32738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4BBA7E4-4B6E-410D-97E2-A4CC85B8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F8F8C"/>
                </a:solidFill>
              </a:defRPr>
            </a:pPr>
            <a:r>
              <a:rPr sz="900" b="1">
                <a:solidFill>
                  <a:srgbClr val="0F8F8C"/>
                </a:solidFill>
              </a:rPr>
              <a:t>2026 TICKET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7E6E9-176B-44EA-9B36-9FCF0BF8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Repairer Time: duration mix by ticket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372B1-3A9A-4961-B4E6-A84F4240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287"/>
                </a:solidFill>
              </a:defRPr>
            </a:pPr>
            <a:r>
              <a:rPr sz="1200">
                <a:solidFill>
                  <a:srgbClr val="647287"/>
                </a:solidFill>
              </a:rPr>
              <a:t>914 priced tickets. Percentages are ticket-count share within each price band, not claim amount share.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4B345-8798-473B-B958-7A62CF13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C3E1E-63AF-444C-93F4-D310B878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$0-500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8DC8E-8B1A-44B2-AC9F-78CCF5C4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415 tickets  /  avg 30.5 days</a:t>
            </a:r>
          </a:p>
        </p:txBody>
      </p:sp>
      <p:graphicFrame>
        <p:nvGraphicFramePr>
          <p:cNvPr id="126" name="Chart"/>
          <p:cNvGraphicFramePr/>
          <p:nvPr/>
        </p:nvGraphicFramePr>
        <p:xfrm>
          <a:off xmlns:a="http://schemas.openxmlformats.org/drawingml/2006/main" x="7810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24bfae5a2e45d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FED92F-B230-496D-B83F-DCF8053E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3FE24-594D-4128-BBE3-C94190B6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055E7-A1A1-494F-A8AD-BFC7AE63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92 tickets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7837A-CF5A-4F50-9D45-D157E069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22.2%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60C72-6A91-4F0E-9DA5-8B1B96FB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FB1A9-1BAD-4D25-800C-BDEE9EF4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ECB71C-539C-4BBE-9655-56BB3345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74 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08C90-EE79-4B65-AE11-511547C3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17.8%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1DAA0-C177-407E-B617-C27C4B99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98B27-4531-4657-8D0E-066562D1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3695B-5F9A-4538-8CD3-A75C614E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48 tickets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FDB1D4-9A13-4F69-A3DD-13D0472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11.6%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F19FA-DBF0-4EFE-8C4E-DE6B7442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D27C0-E002-46CA-979F-F5A8571A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4A82-3683-48E7-A590-078E506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38 tickets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82150F-8A07-4D44-8A59-178D7BF8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9.2%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70B5D4-905B-412F-A4CD-1D40F40D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D97DB-4FB0-4957-9F34-B594F453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886B06-9A63-45C4-BD52-423B0479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98 tickets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EBC3C-90EB-4462-AED1-EECD37B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23.6%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C9219B-D3A4-466B-9153-DAEB2CE6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E62515-868B-4508-B5B3-A284A040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68D14F-64D9-4231-9C26-A97651A1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65 tickets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3F9DF2-69F4-42AE-879C-20638705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15.7%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DC0A4E-81E2-4B5C-ADD4-4D5494DD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CDDB08-FC8C-4603-8C9A-54B7F47F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47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$500-2k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A7D07A-41F0-466D-8C98-02DF8F2B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050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455 tickets  /  avg 34.7 days</a:t>
            </a:r>
          </a:p>
        </p:txBody>
      </p:sp>
      <p:graphicFrame>
        <p:nvGraphicFramePr>
          <p:cNvPr id="154" name="Chart"/>
          <p:cNvGraphicFramePr/>
          <p:nvPr/>
        </p:nvGraphicFramePr>
        <p:xfrm>
          <a:off xmlns:a="http://schemas.openxmlformats.org/drawingml/2006/main" x="6534150" y="22479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4f5f85fd414c3b"/>
          </a:graphicData>
        </a:graphic>
      </p:graphicFrame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4F6845-D9A6-459F-9B0B-3C83CFE6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14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1E9DFB-45B0-44A1-A198-D8F0E1EC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76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AC4A1F-20EA-47BA-AEB6-AE82F57D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64 tickets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E2B97A-3A09-4E09-8897-07292897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276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F688A9-51E1-4C0D-A29A-A1055348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05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7BA5C5-602A-4A15-A05F-AFE5AF1A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3A68E6-A933-4662-B84E-63DE2387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66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65 tickets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7C370D-1E9B-47E1-B626-4478C3AC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66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14.3%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9A3396-088B-4E2B-A29A-6390F546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12C30C-4F98-4228-9EB7-C928C16A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7D10B4-5572-4779-ABFA-FA657D6A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57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64 tickets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AE8B60-1EA5-478F-AFF7-5F7D4030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657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14.1%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22B8B2-2FEB-4F1F-B840-58EF7B65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86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0674FE-E5AB-4953-9F14-4B28BAC1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B2BFD-7938-4FA8-9A91-776A79F8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47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 tickets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65FB51-EBE3-4AD7-BA47-601DB033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47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11.0%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9F7120A-6B96-461A-8289-591A569D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76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DB6468-6B2E-4265-BFF4-0F4EA364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2C784C-4888-413A-86AC-2DCABD3F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384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133 tickets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36D0C0-8383-46C3-A0E0-10054A7D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384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29.2%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7B89B97-2CC9-4811-9B78-6876C387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3F0B8D-2065-4153-B59F-924CA415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07C7762-B685-44BC-8F3B-3FCF44A5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289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79 tickets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A697A9-9180-426A-ABC8-8DD3A306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2289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17.4%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F281FCE-A9FD-482D-9AA0-FCD3718D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AFCD6F8-8A9A-4BE2-AE83-9CC9D8B0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$2k-5k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0B6BBE-861E-4520-90AB-066A8CDE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42 tickets  /  avg 29.8 days</a:t>
            </a:r>
          </a:p>
        </p:txBody>
      </p:sp>
      <p:graphicFrame>
        <p:nvGraphicFramePr>
          <p:cNvPr id="182" name="Chart"/>
          <p:cNvGraphicFramePr/>
          <p:nvPr/>
        </p:nvGraphicFramePr>
        <p:xfrm>
          <a:off xmlns:a="http://schemas.openxmlformats.org/drawingml/2006/main" x="7810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4fe60ade274b57"/>
          </a:graphicData>
        </a:graphic>
      </p:graphicFrame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9861E22-60D9-4AA6-9FAD-3B94B148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F3DF6B8-8CAD-4B2C-B358-8A82B6E1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24ACE9B-1370-4915-8B4B-6DDBE08B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 tickets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BA22D93-4266-479B-BCA3-A5D9291F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435EAF3-5FB6-4139-B046-DB1BC0EB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16FF426-62F3-4DA3-86B2-1F226023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2FBE401-3F24-4AB1-9AE8-32EF44C9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 tickets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C3B0847-E6C3-44D6-B290-EF9E7F50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21.4%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142834-0432-414A-92F0-4A9321C2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368D700-70C3-4EAB-A481-971CD64C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923CEEF-06E1-48D4-AA9E-EB68F868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4 tickets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533C24-B946-4EF6-9CE5-3CE33656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9.5%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6DD071D-764D-4496-809F-1749E62C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4C9E2B-688D-4CB9-867D-0D87266F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CE81E0F-55C8-4CFB-8D0D-7D088518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6 tickets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505DF7B-75A5-4463-B3AD-96F3ACCE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14.3%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A7F7207-3846-41D1-B164-7F828012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5584A94-1B33-4412-828C-A0A12937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0824B1B-767A-4B18-B8D4-95A9F121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9 tickets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8DCFC22-CFFD-4455-8ED6-D61315F5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21.4%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015FE53-3FD3-4219-AB8D-D6EE521D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92178BE-D3CD-40A5-8D9F-34B93EBD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87909AF-4AD0-49C5-8842-4BBFD106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7 tickets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98BB66B-4F5A-4339-AC13-1BC3F222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16.7%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6E748B2-FC0F-4603-A50E-0786E637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52197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4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0CAE097-FDFE-4955-AA45-BB5EE6ED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0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$5k+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4FA15E1-5238-4F9E-A087-F3409A57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67225"/>
            <a:ext cx="487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287"/>
                </a:solidFill>
              </a:defRPr>
            </a:pPr>
            <a:r>
              <a:rPr sz="975">
                <a:solidFill>
                  <a:srgbClr val="647287"/>
                </a:solidFill>
              </a:rPr>
              <a:t>2 tickets  /  avg 29.5 days</a:t>
            </a:r>
          </a:p>
        </p:txBody>
      </p:sp>
      <p:graphicFrame>
        <p:nvGraphicFramePr>
          <p:cNvPr id="210" name="Chart"/>
          <p:cNvGraphicFramePr/>
          <p:nvPr/>
        </p:nvGraphicFramePr>
        <p:xfrm>
          <a:off xmlns:a="http://schemas.openxmlformats.org/drawingml/2006/main" x="6534150" y="4610100"/>
          <a:ext xmlns:a="http://schemas.openxmlformats.org/drawingml/2006/main" cx="1428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ae6b109ce84bff"/>
          </a:graphicData>
        </a:graphic>
      </p:graphicFrame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6D4AE94-D34A-47DB-9779-C47FE92B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F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D5AE6E3-B138-4CEE-A47A-D32B1E3C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38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0-7 days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63D7694-4A03-4B3F-ABFD-0DF5FB90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38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160C0BC-6B5F-4F6B-8170-3D69FA51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38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C1EAD97-73D3-4B7F-8235-02AC121D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67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A489E94-5467-4078-80A0-240013E6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29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8-14 days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3683ECA-6489-4B3A-A8BA-1A6245E8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29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F63F196-66CF-4DDF-BD3F-BBBF0820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829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DE988EC-B813-49EB-946F-0C205C1C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5F412F5-F891-4B88-AACC-032992B9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9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15-21 days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28B8A23-202B-49BE-865F-0D863D2C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19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01ECAE5-5579-49CA-8709-2AE2D49A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19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594D9DF-4404-4917-921F-FDE566A5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48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8A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9723A77-83ED-43BC-AEA0-D6A4F5B1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0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22-30 days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B812334-379B-499A-BDED-7C7DE828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0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D201CFD-1FB8-48D1-B2E3-C6FB28C8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FC61DFA-DF22-48AD-AA07-20568568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38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9F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2F43977-F85D-42D7-A146-9B1BBC4A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006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31-60 days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7637CCC-CD29-484F-90BD-63E350CB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006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1 tickets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A2F5656-3345-4C94-9F23-4608320B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006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50.0%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2F630CD-BFA9-4EFF-99B6-9E25D9CE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29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5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52D3666-BBD7-4258-B050-F5639F43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91175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176"/>
                </a:solidFill>
              </a:defRPr>
            </a:pPr>
            <a:r>
              <a:rPr sz="975">
                <a:solidFill>
                  <a:srgbClr val="526176"/>
                </a:solidFill>
              </a:rPr>
              <a:t>60+ days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42A6D69-646A-4D92-90F4-E3C0691B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91175"/>
            <a:ext cx="895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 tickets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4EB09EB-8496-4271-888F-4664CD2A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91175"/>
            <a:ext cx="533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1D2A3D"/>
                </a:solidFill>
              </a:defRPr>
            </a:pPr>
            <a:r>
              <a:rPr sz="975">
                <a:solidFill>
                  <a:srgbClr val="1D2A3D"/>
                </a:solidFill>
              </a:rPr>
              <a:t>0.0%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41384BA-D281-4CB5-80A3-34B5628A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005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0D6D6B"/>
                </a:solidFill>
              </a:defRPr>
            </a:pPr>
            <a:r>
              <a:rPr sz="1125">
                <a:solidFill>
                  <a:srgbClr val="0D6D6B"/>
                </a:solidFill>
              </a:rPr>
              <a:t>Repairer timing by claim value band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2353208-3663-4C78-AE80-526A140A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610C651-E00F-4A88-B370-9D6B35DD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Generated from ticket_timeline_summary.json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5876CCC-D4F8-4553-BB94-EEE36864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7A8796"/>
                </a:solidFill>
              </a:defRPr>
            </a:pPr>
            <a:r>
              <a:rPr sz="825">
                <a:solidFill>
                  <a:srgbClr val="7A879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726689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2026-07-22T03:51:45.9800000Z</dcterms:created>
  <dcterms:modified xsi:type="dcterms:W3CDTF">2026-07-22T03:51:45.9810000Z</dcterms:modified>
</coreProperties>
</file>