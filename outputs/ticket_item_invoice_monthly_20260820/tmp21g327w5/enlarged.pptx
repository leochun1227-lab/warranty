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b1720be3ca04053" Type="http://schemas.openxmlformats.org/officeDocument/2006/relationships/extended-properties" Target="docProps/app.xml"/><Relationship Id="R6b6da365008d4d2c" Type="http://schemas.openxmlformats.org/package/2006/relationships/metadata/core-properties" Target="docProps/core.xml"/><Relationship Id="Rc72f6dc78f8641c0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8e136d8855421f"/>
  </p:sldMasterIdLst>
  <p:notesMasterIdLst>
    <p:notesMasterId xmlns:r="http://schemas.openxmlformats.org/officeDocument/2006/relationships" r:id="R2b60f41438b24b01"/>
  </p:notesMasterIdLst>
  <p:sldIdLst>
    <p:sldId xmlns:r="http://schemas.openxmlformats.org/officeDocument/2006/relationships" id="256" r:id="Re45de53368134948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b60f41438b24b01" Type="http://schemas.openxmlformats.org/officeDocument/2006/relationships/notesMaster" Target="notesMasters/notesMaster1.xml"/><Relationship Id="R857101ccd22740de" Type="http://schemas.openxmlformats.org/officeDocument/2006/relationships/theme" Target="theme/theme1.xml"/><Relationship Id="R8a8e136d8855421f" Type="http://schemas.openxmlformats.org/officeDocument/2006/relationships/slideMaster" Target="slideMasters/slideMaster1.xml"/><Relationship Id="Re45de53368134948" Type="http://schemas.openxmlformats.org/officeDocument/2006/relationships/slide" Target="slides/slide1.xml"/><Relationship Id="Red915ef45f19455a" Type="http://schemas.openxmlformats.org/officeDocument/2006/relationships/presProps" Target="presProps.xml"/><Relationship Id="Rf7173a2e6dd64b7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abafd96cc74a48c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4f2b6b6ce954e47" Type="http://schemas.openxmlformats.org/officeDocument/2006/relationships/slide" Target="../slides/slide1.xml"/><Relationship Id="Rd9c3961c79b24015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a866427b8a64af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b856b28b05c41c0" Type="http://schemas.openxmlformats.org/officeDocument/2006/relationships/theme" Target="theme/theme2.xml"/><Relationship Id="R5ecbc2bd3dc2488a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cbc2bd3dc248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f857d16b637420b" Type="http://schemas.openxmlformats.org/officeDocument/2006/relationships/chart" Target="charts/chart1.xml"/><Relationship Id="R5f4ca38e185340e6" Type="http://schemas.openxmlformats.org/officeDocument/2006/relationships/slideLayout" Target="../slideLayouts/slideLayout1.xml"/><Relationship Id="R8e7e1df10e5049b0" Type="http://schemas.openxmlformats.org/officeDocument/2006/relationships/notesSlide" Target="../notesSlides/notesSlide1.xml"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C4C item rows</c:v>
          </c:tx>
          <c:spPr>
            <a:solidFill xmlns:a="http://schemas.openxmlformats.org/drawingml/2006/main">
              <a:srgbClr val="3D8DFF"/>
            </a:solidFill>
          </c:spPr>
          <c:marker>
            <c:symbol val="none"/>
          </c:marker>
          <c:cat>
            <c:strLit>
              <c:ptCount val="12"/>
              <c:pt idx="0">
                <c:v>2025-09</c:v>
              </c:pt>
              <c:pt idx="1">
                <c:v>2025-10</c:v>
              </c:pt>
              <c:pt idx="2">
                <c:v>2025-11</c:v>
              </c:pt>
              <c:pt idx="3">
                <c:v>2025-12</c:v>
              </c:pt>
              <c:pt idx="4">
                <c:v>2026-01</c:v>
              </c:pt>
              <c:pt idx="5">
                <c:v>2026-02</c:v>
              </c:pt>
              <c:pt idx="6">
                <c:v>2026-03</c:v>
              </c:pt>
              <c:pt idx="7">
                <c:v>2026-04</c:v>
              </c:pt>
              <c:pt idx="8">
                <c:v>2026-05</c:v>
              </c:pt>
              <c:pt idx="9">
                <c:v>2026-06</c:v>
              </c:pt>
              <c:pt idx="10">
                <c:v>2026-07</c:v>
              </c:pt>
              <c:pt idx="11">
                <c:v>2026-08</c:v>
              </c:pt>
            </c:strLit>
          </c:cat>
          <c:val>
            <c:numLit>
              <c:formatCode>#,##0</c:formatCode>
              <c:ptCount val="12"/>
              <c:pt idx="0">
                <c:v>494</c:v>
              </c:pt>
              <c:pt idx="1">
                <c:v>342</c:v>
              </c:pt>
              <c:pt idx="2">
                <c:v>992</c:v>
              </c:pt>
              <c:pt idx="3">
                <c:v>1237</c:v>
              </c:pt>
              <c:pt idx="4">
                <c:v>459</c:v>
              </c:pt>
              <c:pt idx="5">
                <c:v>672</c:v>
              </c:pt>
              <c:pt idx="6">
                <c:v>728</c:v>
              </c:pt>
              <c:pt idx="7">
                <c:v>759</c:v>
              </c:pt>
              <c:pt idx="8">
                <c:v>1090</c:v>
              </c:pt>
              <c:pt idx="9">
                <c:v>1539</c:v>
              </c:pt>
              <c:pt idx="10">
                <c:v>1473</c:v>
              </c:pt>
              <c:pt idx="11">
                <c:v>812</c:v>
              </c:pt>
            </c:numLit>
          </c:val>
        </c:ser>
        <c:ser>
          <c:idx val="1"/>
          <c:order val="1"/>
          <c:tx>
            <c:v>Tickets</c:v>
          </c:tx>
          <c:spPr>
            <a:solidFill xmlns:a="http://schemas.openxmlformats.org/drawingml/2006/main">
              <a:srgbClr val="6DCBF4"/>
            </a:solidFill>
          </c:spPr>
          <c:marker>
            <c:symbol val="none"/>
          </c:marker>
          <c:cat>
            <c:strLit>
              <c:ptCount val="12"/>
              <c:pt idx="0">
                <c:v>2025-09</c:v>
              </c:pt>
              <c:pt idx="1">
                <c:v>2025-10</c:v>
              </c:pt>
              <c:pt idx="2">
                <c:v>2025-11</c:v>
              </c:pt>
              <c:pt idx="3">
                <c:v>2025-12</c:v>
              </c:pt>
              <c:pt idx="4">
                <c:v>2026-01</c:v>
              </c:pt>
              <c:pt idx="5">
                <c:v>2026-02</c:v>
              </c:pt>
              <c:pt idx="6">
                <c:v>2026-03</c:v>
              </c:pt>
              <c:pt idx="7">
                <c:v>2026-04</c:v>
              </c:pt>
              <c:pt idx="8">
                <c:v>2026-05</c:v>
              </c:pt>
              <c:pt idx="9">
                <c:v>2026-06</c:v>
              </c:pt>
              <c:pt idx="10">
                <c:v>2026-07</c:v>
              </c:pt>
              <c:pt idx="11">
                <c:v>2026-08</c:v>
              </c:pt>
            </c:strLit>
          </c:cat>
          <c:val>
            <c:numLit>
              <c:formatCode>#,##0</c:formatCode>
              <c:ptCount val="12"/>
              <c:pt idx="0">
                <c:v>371</c:v>
              </c:pt>
              <c:pt idx="1">
                <c:v>313</c:v>
              </c:pt>
              <c:pt idx="2">
                <c:v>882</c:v>
              </c:pt>
              <c:pt idx="3">
                <c:v>706</c:v>
              </c:pt>
              <c:pt idx="4">
                <c:v>346</c:v>
              </c:pt>
              <c:pt idx="5">
                <c:v>647</c:v>
              </c:pt>
              <c:pt idx="6">
                <c:v>575</c:v>
              </c:pt>
              <c:pt idx="7">
                <c:v>542</c:v>
              </c:pt>
              <c:pt idx="8">
                <c:v>809</c:v>
              </c:pt>
              <c:pt idx="9">
                <c:v>833</c:v>
              </c:pt>
              <c:pt idx="10">
                <c:v>767</c:v>
              </c:pt>
              <c:pt idx="11">
                <c:v>517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C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BCD976C4-B0BF-4948-A92D-6F6429E5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219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SAP invoice date basis | 2025-09-01 to 2026-08-20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7A791E-9C81-416A-B5EA-1DE5AA09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38300"/>
            <a:ext cx="800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C4C item rows peaked in the latest invoice months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6C0F67A-2D57-4962-BBB2-80DAF5A6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03743"/>
                </a:solidFill>
              </a:defRPr>
            </a:pPr>
            <a:r>
              <a:rPr sz="1500">
                <a:solidFill>
                  <a:srgbClr val="303743"/>
                </a:solidFill>
              </a:rPr>
              <a:t>Each ticket is allocated to the month of its latest non-reversed SAP EKBE BEWTP='Q' posting date; the line tracks how many C4C item rows sit under those tickets.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CF7F195-47FA-42B5-9480-796D4394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48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1447800" y="3790950"/>
          <a:ext xmlns:a="http://schemas.openxmlformats.org/drawingml/2006/main" cx="7334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857d16b637420b"/>
          </a:graphicData>
        </a:graphic>
      </p:graphicFrame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CF821BF7-A903-4CD7-96EF-CA670B17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05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Total item rows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2A7B180C-C926-477A-8C92-C801105B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71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10,597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DE1DF95C-56A8-4035-B36D-636831C2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81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Tickets invoiced</a:t>
            </a:r>
          </a:p>
        </p:txBody>
      </p:sp>
      <p:sp>
        <p:nvSpPr>
          <p:cNvPr id="9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1D54BA96-2540-4B29-BD37-AF6A3E00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48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7,308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8000D027-8FEB-446C-806A-2EA7BA32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57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Peak month</a:t>
            </a:r>
          </a:p>
        </p:txBody>
      </p:sp>
      <p:sp>
        <p:nvSpPr>
          <p:cNvPr id="11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5B89BB76-BC65-4235-AD65-62D0E549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245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2026-06 (1,539)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08A7D42-17DC-4686-8B02-1115EEB5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0565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  <a:r>
              <a:rPr sz="975">
                <a:solidFill>
                  <a:srgbClr val="5B6472"/>
                </a:solidFill>
              </a:rPr>
              <a:t>Source: C4C parts_classified.csv joined to SAP HANA EKBE/RBKP invoice PO-item aggregates; RBKP reversal docs excluded.</a:t>
            </a:r>
          </a:p>
        </p:txBody>
      </p:sp>
    </p:spTree>
    <p:extLst>
      <p:ext uri="{BB962C8B-B14F-4D97-AF65-F5344CB8AC3E}">
        <p14:creationId xmlns:p14="http://schemas.microsoft.com/office/powerpoint/2010/main" val="1615029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2026-08-20T01:49:11.1870000Z</dcterms:created>
  <dcterms:modified xsi:type="dcterms:W3CDTF">2026-08-20T01:49:11.1870000Z</dcterms:modified>
</coreProperties>
</file>