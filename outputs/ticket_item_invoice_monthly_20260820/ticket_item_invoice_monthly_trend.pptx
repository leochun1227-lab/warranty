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e00fcd588149f7" /><Relationship Type="http://schemas.openxmlformats.org/officeDocument/2006/relationships/extended-properties" Target="/docProps/app.xml" Id="R8b3177e705b346e2" /><Relationship Type="http://schemas.openxmlformats.org/officeDocument/2006/relationships/officeDocument" Target="/ppt/presentation.xml" Id="R04bffc2b448f49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77e6b14f8541e5"/>
  </p:sldMasterIdLst>
  <p:notesMasterIdLst>
    <p:notesMasterId xmlns:r="http://schemas.openxmlformats.org/officeDocument/2006/relationships" r:id="R1235302464bd465d"/>
  </p:notesMasterIdLst>
  <p:sldIdLst>
    <p:sldId xmlns:r="http://schemas.openxmlformats.org/officeDocument/2006/relationships" id="256" r:id="R59f08b2cc6f343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f982f30d0b44b1" /><Relationship Type="http://schemas.openxmlformats.org/officeDocument/2006/relationships/slideMaster" Target="/ppt/slideMasters/slideMaster1.xml" Id="R9177e6b14f8541e5" /><Relationship Type="http://schemas.openxmlformats.org/officeDocument/2006/relationships/notesMaster" Target="/ppt/notesMasters/notesMaster1.xml" Id="R1235302464bd465d" /><Relationship Type="http://schemas.openxmlformats.org/officeDocument/2006/relationships/presProps" Target="/ppt/presProps.xml" Id="Rb1e64db2e2104afe" /><Relationship Type="http://schemas.openxmlformats.org/officeDocument/2006/relationships/tableStyles" Target="/ppt/tableStyles.xml" Id="R23222690d6824b78" /><Relationship Type="http://schemas.openxmlformats.org/officeDocument/2006/relationships/slide" Target="/ppt/slides/slide1.xml" Id="R59f08b2cc6f343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a8fb9aae1b43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11f65969d5427e" /><Relationship Type="http://schemas.openxmlformats.org/officeDocument/2006/relationships/notesMaster" Target="/ppt/notesMasters/notesMaster1.xml" Id="R423a48474b194b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cf010a5bc045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83441fe40f4269" /><Relationship Type="http://schemas.openxmlformats.org/officeDocument/2006/relationships/slideLayout" Target="/ppt/slideLayouts/slideLayout1.xml" Id="R2c90a2e40f9e49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90a2e40f9e49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cd40bd09f4db6" /><Relationship Type="http://schemas.openxmlformats.org/officeDocument/2006/relationships/chart" Target="/ppt/slides/charts/chart1.xml" Id="Rc2248c5d5a904443" /><Relationship Type="http://schemas.openxmlformats.org/officeDocument/2006/relationships/notesSlide" Target="/ppt/notesSlides/notesSlide1.xml" Id="R0ca0712a332f4c7c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C4C item rows</c:v>
          </c:tx>
          <c:spPr>
            <a:solidFill xmlns:a="http://schemas.openxmlformats.org/drawingml/2006/main">
              <a:srgbClr val="3D8DFF"/>
            </a:solidFill>
          </c:spPr>
          <c:marker>
            <c:symbol val="none"/>
          </c:marker>
          <c:cat>
            <c:strLit>
              <c:ptCount val="12"/>
              <c:pt idx="0">
                <c:v>2025-09</c:v>
              </c:pt>
              <c:pt idx="1">
                <c:v>2025-10</c:v>
              </c:pt>
              <c:pt idx="2">
                <c:v>2025-11</c:v>
              </c:pt>
              <c:pt idx="3">
                <c:v>2025-12</c:v>
              </c:pt>
              <c:pt idx="4">
                <c:v>2026-01</c:v>
              </c:pt>
              <c:pt idx="5">
                <c:v>2026-02</c:v>
              </c:pt>
              <c:pt idx="6">
                <c:v>2026-03</c:v>
              </c:pt>
              <c:pt idx="7">
                <c:v>2026-04</c:v>
              </c:pt>
              <c:pt idx="8">
                <c:v>2026-05</c:v>
              </c:pt>
              <c:pt idx="9">
                <c:v>2026-06</c:v>
              </c:pt>
              <c:pt idx="10">
                <c:v>2026-07</c:v>
              </c:pt>
              <c:pt idx="11">
                <c:v>2026-08</c:v>
              </c:pt>
            </c:strLit>
          </c:cat>
          <c:val>
            <c:numLit>
              <c:formatCode>#,##0</c:formatCode>
              <c:ptCount val="12"/>
              <c:pt idx="0">
                <c:v>495</c:v>
              </c:pt>
              <c:pt idx="1">
                <c:v>342</c:v>
              </c:pt>
              <c:pt idx="2">
                <c:v>992</c:v>
              </c:pt>
              <c:pt idx="3">
                <c:v>1237</c:v>
              </c:pt>
              <c:pt idx="4">
                <c:v>459</c:v>
              </c:pt>
              <c:pt idx="5">
                <c:v>672</c:v>
              </c:pt>
              <c:pt idx="6">
                <c:v>733</c:v>
              </c:pt>
              <c:pt idx="7">
                <c:v>759</c:v>
              </c:pt>
              <c:pt idx="8">
                <c:v>1090</c:v>
              </c:pt>
              <c:pt idx="9">
                <c:v>1539</c:v>
              </c:pt>
              <c:pt idx="10">
                <c:v>1473</c:v>
              </c:pt>
              <c:pt idx="11">
                <c:v>813</c:v>
              </c:pt>
            </c:numLit>
          </c:val>
        </c:ser>
        <c:ser>
          <c:idx val="1"/>
          <c:order val="1"/>
          <c:tx>
            <c:v>Tickets</c:v>
          </c:tx>
          <c:spPr>
            <a:solidFill xmlns:a="http://schemas.openxmlformats.org/drawingml/2006/main">
              <a:srgbClr val="6DCBF4"/>
            </a:solidFill>
          </c:spPr>
          <c:marker>
            <c:symbol val="none"/>
          </c:marker>
          <c:cat>
            <c:strLit>
              <c:ptCount val="12"/>
              <c:pt idx="0">
                <c:v>2025-09</c:v>
              </c:pt>
              <c:pt idx="1">
                <c:v>2025-10</c:v>
              </c:pt>
              <c:pt idx="2">
                <c:v>2025-11</c:v>
              </c:pt>
              <c:pt idx="3">
                <c:v>2025-12</c:v>
              </c:pt>
              <c:pt idx="4">
                <c:v>2026-01</c:v>
              </c:pt>
              <c:pt idx="5">
                <c:v>2026-02</c:v>
              </c:pt>
              <c:pt idx="6">
                <c:v>2026-03</c:v>
              </c:pt>
              <c:pt idx="7">
                <c:v>2026-04</c:v>
              </c:pt>
              <c:pt idx="8">
                <c:v>2026-05</c:v>
              </c:pt>
              <c:pt idx="9">
                <c:v>2026-06</c:v>
              </c:pt>
              <c:pt idx="10">
                <c:v>2026-07</c:v>
              </c:pt>
              <c:pt idx="11">
                <c:v>2026-08</c:v>
              </c:pt>
            </c:strLit>
          </c:cat>
          <c:val>
            <c:numLit>
              <c:formatCode>#,##0</c:formatCode>
              <c:ptCount val="12"/>
              <c:pt idx="0">
                <c:v>373</c:v>
              </c:pt>
              <c:pt idx="1">
                <c:v>313</c:v>
              </c:pt>
              <c:pt idx="2">
                <c:v>882</c:v>
              </c:pt>
              <c:pt idx="3">
                <c:v>706</c:v>
              </c:pt>
              <c:pt idx="4">
                <c:v>346</c:v>
              </c:pt>
              <c:pt idx="5">
                <c:v>647</c:v>
              </c:pt>
              <c:pt idx="6">
                <c:v>576</c:v>
              </c:pt>
              <c:pt idx="7">
                <c:v>542</c:v>
              </c:pt>
              <c:pt idx="8">
                <c:v>809</c:v>
              </c:pt>
              <c:pt idx="9">
                <c:v>833</c:v>
              </c:pt>
              <c:pt idx="10">
                <c:v>767</c:v>
              </c:pt>
              <c:pt idx="11">
                <c:v>518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C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6555CAA7-EAAA-41DF-A72F-DD5C4783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SAP invoice date basis | 2025-09-01 to 2026-08-20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F97860-67EE-48A1-877D-098A890D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00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C4C item rows peaked in the latest invoice months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75FB734-EDFD-4A95-8DEB-614EDC38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03743"/>
                </a:solidFill>
              </a:defRPr>
            </a:pPr>
            <a:r>
              <a:rPr sz="1500">
                <a:solidFill>
                  <a:srgbClr val="303743"/>
                </a:solidFill>
              </a:rPr>
              <a:t>Each ticket is allocated to the month of its latest non-reversed SAP EKBE BEWTP='Q' posting date; the line tracks how many C4C item rows sit under those tickets.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A938996-36BD-4E95-A81E-73151D86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85800" y="3028950"/>
          <a:ext xmlns:a="http://schemas.openxmlformats.org/drawingml/2006/main" cx="7334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248c5d5a904443"/>
          </a:graphicData>
        </a:graphic>
      </p:graphicFrame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76611F37-F6DF-4CDE-9551-49EC4941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Total item rows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4DD1BA6D-9BAC-4342-A727-62113124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10,604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F9E8C60D-9DAB-4E63-AD89-F0FEF26D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Tickets invoiced</a:t>
            </a:r>
          </a:p>
        </p:txBody>
      </p:sp>
      <p:sp>
        <p:nvSpPr>
          <p:cNvPr id="9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59DA2B79-5C00-478E-8555-E68FFBA1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86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7,312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30356471-2415-4DBD-BBAD-A7EA8D5A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95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472"/>
                </a:solidFill>
              </a:defRPr>
            </a:pPr>
            <a:r>
              <a:rPr sz="1350" b="1">
                <a:solidFill>
                  <a:srgbClr val="5B6472"/>
                </a:solidFill>
              </a:rPr>
              <a:t>Peak month</a:t>
            </a:r>
          </a:p>
        </p:txBody>
      </p:sp>
      <p:sp>
        <p:nvSpPr>
          <p:cNvPr id="11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87D35094-54A7-4227-B56C-199751DE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625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2026-06 (1,539)</a:t>
            </a:r>
          </a:p>
        </p:txBody>
      </p:sp>
      <p:sp>
        <p:nvSpPr>
          <p:cNvPr id="1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CEBB0B3-FC8C-4A6C-B4A4-49B0319C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</a:defRPr>
            </a:pPr>
            <a:r>
              <a:rPr sz="975">
                <a:solidFill>
                  <a:srgbClr val="5B6472"/>
                </a:solidFill>
              </a:rPr>
              <a:t>Source: C4C parts_classified.csv joined to SAP HANA EKBE/RBKP invoice PO-item aggregates; RBKP reversal docs excluded.</a:t>
            </a:r>
          </a:p>
        </p:txBody>
      </p:sp>
    </p:spTree>
    <p:extLst>
      <p:ext uri="{BB962C8B-B14F-4D97-AF65-F5344CB8AC3E}">
        <p14:creationId xmlns:p14="http://schemas.microsoft.com/office/powerpoint/2010/main" val="345659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2026-08-20T03:43:33.2820000Z</dcterms:created>
  <dcterms:modified xsi:type="dcterms:W3CDTF">2026-08-20T03:43:33.2820000Z</dcterms:modified>
</coreProperties>
</file>