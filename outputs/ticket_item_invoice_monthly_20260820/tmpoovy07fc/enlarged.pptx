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bf5b8ab3d734f44" Type="http://schemas.openxmlformats.org/officeDocument/2006/relationships/officeDocument" Target="ppt/presentation.xml"/><Relationship Id="Rbd191b98f8b84a6e" Type="http://schemas.openxmlformats.org/package/2006/relationships/metadata/core-properties" Target="docProps/core.xml"/><Relationship Id="Rf8650a3150f24df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3f1f9b0334cb8"/>
  </p:sldMasterIdLst>
  <p:notesMasterIdLst>
    <p:notesMasterId xmlns:r="http://schemas.openxmlformats.org/officeDocument/2006/relationships" r:id="Rc41af4677a1a478a"/>
  </p:notesMasterIdLst>
  <p:sldIdLst>
    <p:sldId xmlns:r="http://schemas.openxmlformats.org/officeDocument/2006/relationships" id="256" r:id="Rb7c1505859e7419c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8f54b6b59a84e33" Type="http://schemas.openxmlformats.org/officeDocument/2006/relationships/tableStyles" Target="tableStyles.xml"/><Relationship Id="R85dd4a1aaff441c8" Type="http://schemas.openxmlformats.org/officeDocument/2006/relationships/presProps" Target="presProps.xml"/><Relationship Id="Ra243f1f9b0334cb8" Type="http://schemas.openxmlformats.org/officeDocument/2006/relationships/slideMaster" Target="slideMasters/slideMaster1.xml"/><Relationship Id="Rb7c1505859e7419c" Type="http://schemas.openxmlformats.org/officeDocument/2006/relationships/slide" Target="slides/slide1.xml"/><Relationship Id="Rc41af4677a1a478a" Type="http://schemas.openxmlformats.org/officeDocument/2006/relationships/notesMaster" Target="notesMasters/notesMaster1.xml"/><Relationship Id="Rc50d5c8ea3b64fcb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bd1c845218194ce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d13d3bfee924215" Type="http://schemas.openxmlformats.org/officeDocument/2006/relationships/notesMaster" Target="../notesMasters/notesMaster1.xml"/><Relationship Id="R6e00bdab7fd04d0e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a08094954dc4ef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018fc68131843b0" Type="http://schemas.openxmlformats.org/officeDocument/2006/relationships/slideLayout" Target="../slideLayouts/slideLayout1.xml"/><Relationship Id="Rec824e1b4491489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18fc68131843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bb1099d668e44ef" Type="http://schemas.openxmlformats.org/officeDocument/2006/relationships/chart" Target="charts/chart1.xml"/><Relationship Id="Re8b327b0c4b04e28" Type="http://schemas.openxmlformats.org/officeDocument/2006/relationships/slideLayout" Target="../slideLayouts/slideLayout1.xml"/><Relationship Id="Rf70f96ad9f724d8a" Type="http://schemas.openxmlformats.org/officeDocument/2006/relationships/notesSlide" Target="../notesSlides/notesSlide1.xml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C4C item rows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strLit>
              <c:ptCount val="12"/>
              <c:pt idx="0">
                <c:v>2025-09</c:v>
              </c:pt>
              <c:pt idx="1">
                <c:v>2025-10</c:v>
              </c:pt>
              <c:pt idx="2">
                <c:v>2025-11</c:v>
              </c:pt>
              <c:pt idx="3">
                <c:v>2025-12</c:v>
              </c:pt>
              <c:pt idx="4">
                <c:v>2026-01</c:v>
              </c:pt>
              <c:pt idx="5">
                <c:v>2026-02</c:v>
              </c:pt>
              <c:pt idx="6">
                <c:v>2026-03</c:v>
              </c:pt>
              <c:pt idx="7">
                <c:v>2026-04</c:v>
              </c:pt>
              <c:pt idx="8">
                <c:v>2026-05</c:v>
              </c:pt>
              <c:pt idx="9">
                <c:v>2026-06</c:v>
              </c:pt>
              <c:pt idx="10">
                <c:v>2026-07</c:v>
              </c:pt>
              <c:pt idx="11">
                <c:v>2026-08</c:v>
              </c:pt>
            </c:strLit>
          </c:cat>
          <c:val>
            <c:numLit>
              <c:formatCode>#,##0</c:formatCode>
              <c:ptCount val="12"/>
              <c:pt idx="0">
                <c:v>514</c:v>
              </c:pt>
              <c:pt idx="1">
                <c:v>342</c:v>
              </c:pt>
              <c:pt idx="2">
                <c:v>994</c:v>
              </c:pt>
              <c:pt idx="3">
                <c:v>1239</c:v>
              </c:pt>
              <c:pt idx="4">
                <c:v>459</c:v>
              </c:pt>
              <c:pt idx="5">
                <c:v>672</c:v>
              </c:pt>
              <c:pt idx="6">
                <c:v>730</c:v>
              </c:pt>
              <c:pt idx="7">
                <c:v>759</c:v>
              </c:pt>
              <c:pt idx="8">
                <c:v>1090</c:v>
              </c:pt>
              <c:pt idx="9">
                <c:v>1539</c:v>
              </c:pt>
              <c:pt idx="10">
                <c:v>1473</c:v>
              </c:pt>
              <c:pt idx="11">
                <c:v>812</c:v>
              </c:pt>
            </c:numLit>
          </c:val>
        </c:ser>
        <c:ser>
          <c:idx val="1"/>
          <c:order val="1"/>
          <c:tx>
            <c:v>Tickets</c:v>
          </c:tx>
          <c:spPr>
            <a:solidFill xmlns:a="http://schemas.openxmlformats.org/drawingml/2006/main">
              <a:srgbClr val="6DCBF4"/>
            </a:solidFill>
          </c:spPr>
          <c:marker>
            <c:symbol val="none"/>
          </c:marker>
          <c:cat>
            <c:strLit>
              <c:ptCount val="12"/>
              <c:pt idx="0">
                <c:v>2025-09</c:v>
              </c:pt>
              <c:pt idx="1">
                <c:v>2025-10</c:v>
              </c:pt>
              <c:pt idx="2">
                <c:v>2025-11</c:v>
              </c:pt>
              <c:pt idx="3">
                <c:v>2025-12</c:v>
              </c:pt>
              <c:pt idx="4">
                <c:v>2026-01</c:v>
              </c:pt>
              <c:pt idx="5">
                <c:v>2026-02</c:v>
              </c:pt>
              <c:pt idx="6">
                <c:v>2026-03</c:v>
              </c:pt>
              <c:pt idx="7">
                <c:v>2026-04</c:v>
              </c:pt>
              <c:pt idx="8">
                <c:v>2026-05</c:v>
              </c:pt>
              <c:pt idx="9">
                <c:v>2026-06</c:v>
              </c:pt>
              <c:pt idx="10">
                <c:v>2026-07</c:v>
              </c:pt>
              <c:pt idx="11">
                <c:v>2026-08</c:v>
              </c:pt>
            </c:strLit>
          </c:cat>
          <c:val>
            <c:numLit>
              <c:formatCode>#,##0</c:formatCode>
              <c:ptCount val="12"/>
              <c:pt idx="0">
                <c:v>376</c:v>
              </c:pt>
              <c:pt idx="1">
                <c:v>315</c:v>
              </c:pt>
              <c:pt idx="2">
                <c:v>883</c:v>
              </c:pt>
              <c:pt idx="3">
                <c:v>707</c:v>
              </c:pt>
              <c:pt idx="4">
                <c:v>346</c:v>
              </c:pt>
              <c:pt idx="5">
                <c:v>647</c:v>
              </c:pt>
              <c:pt idx="6">
                <c:v>576</c:v>
              </c:pt>
              <c:pt idx="7">
                <c:v>542</c:v>
              </c:pt>
              <c:pt idx="8">
                <c:v>809</c:v>
              </c:pt>
              <c:pt idx="9">
                <c:v>833</c:v>
              </c:pt>
              <c:pt idx="10">
                <c:v>767</c:v>
              </c:pt>
              <c:pt idx="11">
                <c:v>517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27FA2BBE-CBAC-4753-9EBC-03CAA4F0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SAP invoice date basis | 2025-09-01 to 2026-08-20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1CBE8B-E256-4F54-A276-8A114AB5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383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C4C item rows peaked in the latest invoice months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98DF94D-EDB2-416B-A032-E6AFB92E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743"/>
                </a:solidFill>
              </a:defRPr>
            </a:pPr>
            <a:r>
              <a:rPr sz="1500">
                <a:solidFill>
                  <a:srgbClr val="303743"/>
                </a:solidFill>
              </a:rPr>
              <a:t>Each ticket is allocated to the month of its latest SAP EKBE invoice posting date; the line tracks how many C4C item rows sit under those tickets.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0B245BE-52D6-4057-82E1-399D70CB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447800" y="3790950"/>
          <a:ext xmlns:a="http://schemas.openxmlformats.org/drawingml/2006/main" cx="7334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b1099d668e44ef"/>
          </a:graphicData>
        </a:graphic>
      </p:graphicFrame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6A326C20-148F-4E26-A3CB-9F601656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Total item rows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DF7B2E61-5509-49E6-88EA-07783093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10,623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88923B61-13C9-415D-B0F3-091B030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81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Tickets invoiced</a:t>
            </a:r>
          </a:p>
        </p:txBody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3026BC2-52A3-4F90-A7EE-B09DA991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7,318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12692A4-A78B-4ACE-BA08-F4E41E8E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57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Peak month</a:t>
            </a:r>
          </a:p>
        </p:txBody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4AEAA501-6683-457F-9093-0336AB28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24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2026-06 (1,539)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FBDA87A-5ED8-4344-8573-DA594C4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056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  <a:r>
              <a:rPr sz="975">
                <a:solidFill>
                  <a:srgbClr val="5B6472"/>
                </a:solidFill>
              </a:rPr>
              <a:t>Source: C4C parts_classified.csv joined to SAP HANA EKBE invoice rows by ticket number parsed from SAP PO short text.</a:t>
            </a:r>
          </a:p>
        </p:txBody>
      </p:sp>
    </p:spTree>
    <p:extLst>
      <p:ext uri="{BB962C8B-B14F-4D97-AF65-F5344CB8AC3E}">
        <p14:creationId xmlns:p14="http://schemas.microsoft.com/office/powerpoint/2010/main" val="97039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2026-08-20T01:35:58.1980000Z</dcterms:created>
  <dcterms:modified xsi:type="dcterms:W3CDTF">2026-08-20T01:35:58.1980000Z</dcterms:modified>
</coreProperties>
</file>